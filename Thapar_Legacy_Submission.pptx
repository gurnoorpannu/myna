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8" r:id="rId18"/>
    <p:sldId id="269" r:id="rId19"/>
    <p:sldId id="260" r:id="rId9"/>
    <p:sldId id="261" r:id="rId10"/>
    <p:sldId id="262" r:id="rId11"/>
    <p:sldId id="263" r:id="rId12"/>
    <p:sldId id="270" r:id="rId20"/>
    <p:sldId id="271" r:id="rId21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customschemas.google.com/relationships/presentationmetadata" Target="metadata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</a:t>
            </a:r>
            <a:r>
              <a:rPr sz="1600" b="1">
                <a:solidFill>
                  <a:srgbClr val="14142B"/>
                </a:solidFill>
                <a:latin typeface="Calibri"/>
              </a:rPr>
              <a:t> Theme 3 — Teachable Voice Automation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</a:t>
            </a:r>
            <a:r>
              <a:rPr sz="1600" b="1">
                <a:solidFill>
                  <a:srgbClr val="14142B"/>
                </a:solidFill>
                <a:latin typeface="Calibri"/>
              </a:rPr>
              <a:t> Legacy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</a:t>
            </a:r>
            <a:r>
              <a:rPr sz="1600" b="1">
                <a:solidFill>
                  <a:srgbClr val="14142B"/>
                </a:solidFill>
                <a:latin typeface="Calibri"/>
              </a:rPr>
              <a:t> Thapar Institute of Engineering &amp; Technology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</a:t>
            </a:r>
            <a:r>
              <a:rPr sz="1600" b="1">
                <a:solidFill>
                  <a:srgbClr val="14142B"/>
                </a:solidFill>
                <a:latin typeface="Calibri"/>
              </a:rPr>
              <a:t> Gurnoor Pannu — gurnxxrpannu@gmail.com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 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4-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Github link - </a:t>
            </a:r>
            <a:r>
              <a:rPr sz="1600" b="1">
                <a:solidFill>
                  <a:srgbClr val="14142B"/>
                </a:solidFill>
                <a:latin typeface="Calibri"/>
              </a:rPr>
              <a:t> github.com/gurnoorpannu/MYNA</a:t>
            </a:r>
            <a:endParaRPr/>
          </a:p>
          <a:p>
            <a:pPr indent="-762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TextBox 96"/>
          <p:cNvSpPr txBox="1"/>
          <p:nvPr/>
        </p:nvSpPr>
        <p:spPr>
          <a:xfrm>
            <a:off x="777240" y="594360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6D28D9"/>
                </a:solidFill>
                <a:latin typeface="Arial"/>
              </a:rPr>
              <a:t>MYNA</a:t>
            </a:r>
            <a:r>
              <a:rPr sz="1300" b="0" i="0">
                <a:solidFill>
                  <a:srgbClr val="14142B"/>
                </a:solidFill>
                <a:latin typeface="Arial"/>
              </a:rPr>
              <a:t>  ·  Mimic Your iNteractions &amp; Automate — show once, then just say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 3 — Teachable Voice Automation</a:t>
            </a:r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41248" y="1600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6D28D9"/>
                </a:solidFill>
                <a:latin typeface="Arial"/>
              </a:rPr>
              <a:t>The problem: </a:t>
            </a:r>
            <a:r>
              <a:rPr sz="1700" b="0" i="0">
                <a:solidFill>
                  <a:srgbClr val="14142B"/>
                </a:solidFill>
                <a:latin typeface="Arial"/>
              </a:rPr>
              <a:t>our phones make us repeat the same 8–15 taps every day, and no assistant can learn them.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41248" y="2240280"/>
            <a:ext cx="3383280" cy="2011680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Oval 103"/>
          <p:cNvSpPr/>
          <p:nvPr/>
        </p:nvSpPr>
        <p:spPr>
          <a:xfrm>
            <a:off x="1024128" y="2395728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18488" y="2432304"/>
            <a:ext cx="2468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4142B"/>
                </a:solidFill>
                <a:latin typeface="Arial"/>
              </a:rPr>
              <a:t>Repetitive by design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24128" y="2971800"/>
            <a:ext cx="30175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637E"/>
                </a:solidFill>
                <a:latin typeface="Arial"/>
              </a:rPr>
              <a:t>Re-ordering the usual pizza, restocking groceries, re-buying a phone case: the same search, the same item, the same options — tapped by hand every single time.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407408" y="2240280"/>
            <a:ext cx="3383280" cy="2011680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Oval 107"/>
          <p:cNvSpPr/>
          <p:nvPr/>
        </p:nvSpPr>
        <p:spPr>
          <a:xfrm>
            <a:off x="4590288" y="2395728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184648" y="2432304"/>
            <a:ext cx="2468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4142B"/>
                </a:solidFill>
                <a:latin typeface="Arial"/>
              </a:rPr>
              <a:t>Assistants can't learn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90288" y="2971800"/>
            <a:ext cx="30175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637E"/>
                </a:solidFill>
                <a:latin typeface="Arial"/>
              </a:rPr>
              <a:t>Bixby and Google Assistant only do what their makers built in. "My usual Domino's order on Zomato" is impossible unless the app ships an integration.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973568" y="2240280"/>
            <a:ext cx="3383280" cy="2011680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Oval 111"/>
          <p:cNvSpPr/>
          <p:nvPr/>
        </p:nvSpPr>
        <p:spPr>
          <a:xfrm>
            <a:off x="8156448" y="2395728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750808" y="2432304"/>
            <a:ext cx="2468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4142B"/>
                </a:solidFill>
                <a:latin typeface="Arial"/>
              </a:rPr>
              <a:t>Automation is for experts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156448" y="2971800"/>
            <a:ext cx="30175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637E"/>
                </a:solidFill>
                <a:latin typeface="Arial"/>
              </a:rPr>
              <a:t>Tasker / MacroDroid / auto-clickers need rules or screen coordinates, and silently break the moment the app's layout changes or a pop-up appears.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41248" y="4434840"/>
            <a:ext cx="1051560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1051560" y="454456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704EA6"/>
                </a:solidFill>
                <a:latin typeface="Arial"/>
              </a:rPr>
              <a:t>What the theme asks for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51560" y="4956048"/>
            <a:ext cx="1920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4142B"/>
                </a:solidFill>
                <a:latin typeface="Arial"/>
              </a:rPr>
              <a:t>Teach once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3637E"/>
                </a:solidFill>
                <a:latin typeface="Arial"/>
              </a:rPr>
              <a:t>by voice + one demonstration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108960" y="4956048"/>
            <a:ext cx="1920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4142B"/>
                </a:solidFill>
                <a:latin typeface="Arial"/>
              </a:rPr>
              <a:t>Replay by voice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3637E"/>
                </a:solidFill>
                <a:latin typeface="Arial"/>
              </a:rPr>
              <a:t>with new values (item, qty, address)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166360" y="4956048"/>
            <a:ext cx="1920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4142B"/>
                </a:solidFill>
                <a:latin typeface="Arial"/>
              </a:rPr>
              <a:t>Survive change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3637E"/>
                </a:solidFill>
                <a:latin typeface="Arial"/>
              </a:rPr>
              <a:t>pop-ups, moved buttons, new screens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223760" y="4956048"/>
            <a:ext cx="1920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4142B"/>
                </a:solidFill>
                <a:latin typeface="Arial"/>
              </a:rPr>
              <a:t>Ask when unsure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3637E"/>
                </a:solidFill>
                <a:latin typeface="Arial"/>
              </a:rPr>
              <a:t>never a silent wrong guess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281160" y="4956048"/>
            <a:ext cx="1920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4142B"/>
                </a:solidFill>
                <a:latin typeface="Arial"/>
              </a:rPr>
              <a:t>Stop at the boundary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3637E"/>
                </a:solidFill>
                <a:latin typeface="Arial"/>
              </a:rPr>
              <a:t>zero taps on payment / OTP / login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51560" y="578815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6D28D9"/>
                </a:solidFill>
                <a:latin typeface="Arial"/>
              </a:rPr>
              <a:t>Rules: </a:t>
            </a:r>
            <a:r>
              <a:rPr sz="1150" b="0" i="0">
                <a:solidFill>
                  <a:srgbClr val="63637E"/>
                </a:solidFill>
                <a:latin typeface="Arial"/>
              </a:rPr>
              <a:t>AccessibilityService only · no app SDKs · no deep links · no hard-coded flows · flows must take parameters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841248" y="1691640"/>
          <a:ext cx="10515600" cy="285292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51760"/>
                <a:gridCol w="1828800"/>
                <a:gridCol w="1600200"/>
                <a:gridCol w="1600200"/>
                <a:gridCol w="1463040"/>
                <a:gridCol w="13716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Approach</a:t>
                      </a:r>
                    </a:p>
                  </a:txBody>
                  <a:tcPr marL="73152" marR="73152" marT="27432" marB="27432" anchor="ctr">
                    <a:solidFill>
                      <a:srgbClr val="704EA6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Learns a new app task from one demo</a:t>
                      </a:r>
                    </a:p>
                  </a:txBody>
                  <a:tcPr marL="73152" marR="73152" marT="27432" marB="27432" anchor="ctr">
                    <a:solidFill>
                      <a:srgbClr val="704EA6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Voice with changed values</a:t>
                      </a:r>
                    </a:p>
                  </a:txBody>
                  <a:tcPr marL="73152" marR="73152" marT="27432" marB="27432" anchor="ctr">
                    <a:solidFill>
                      <a:srgbClr val="704EA6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Survives UI changes</a:t>
                      </a:r>
                    </a:p>
                  </a:txBody>
                  <a:tcPr marL="73152" marR="73152" marT="27432" marB="27432" anchor="ctr">
                    <a:solidFill>
                      <a:srgbClr val="704EA6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Hard stop at payment / OTP</a:t>
                      </a:r>
                    </a:p>
                  </a:txBody>
                  <a:tcPr marL="73152" marR="73152" marT="27432" marB="27432" anchor="ctr">
                    <a:solidFill>
                      <a:srgbClr val="704EA6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AI cost per run</a:t>
                      </a:r>
                    </a:p>
                  </a:txBody>
                  <a:tcPr marL="73152" marR="73152" marT="27432" marB="27432" anchor="ctr">
                    <a:solidFill>
                      <a:srgbClr val="704EA6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42B"/>
                          </a:solidFill>
                          <a:latin typeface="Arial"/>
                        </a:rPr>
                        <a:t>Bixby / Google Assistant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✗  built-in tasks only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8E4E"/>
                          </a:solidFill>
                          <a:latin typeface="Arial"/>
                        </a:rPr>
                        <a:t>✓  built-in intents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8E4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8E4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42B"/>
                          </a:solidFill>
                          <a:latin typeface="Arial"/>
                        </a:rPr>
                        <a:t>cloud NLU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42B"/>
                          </a:solidFill>
                          <a:latin typeface="Arial"/>
                        </a:rPr>
                        <a:t>Tasker · MacroDroid · auto-clickers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B7791F"/>
                          </a:solidFill>
                          <a:latin typeface="Arial"/>
                        </a:rPr>
                        <a:t>~  manual rules / coordinates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✗  fixed positions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42B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42B"/>
                          </a:solidFill>
                          <a:latin typeface="Arial"/>
                        </a:rPr>
                        <a:t>Research record-replay (SUGILITE, VASTA)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8E4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8E4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B7791F"/>
                          </a:solidFill>
                          <a:latin typeface="Arial"/>
                        </a:rPr>
                        <a:t>~  text + OCR match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✗  no hand-off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42B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42B"/>
                          </a:solidFill>
                          <a:latin typeface="Arial"/>
                        </a:rPr>
                        <a:t>LLM phone agents (AutoDroid, MobileGPT, AppAgent)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✗  re-plans every run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8E4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8E4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B7791F"/>
                          </a:solidFill>
                          <a:latin typeface="Arial"/>
                        </a:rPr>
                        <a:t>~  prompt-based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42B"/>
                          </a:solidFill>
                          <a:latin typeface="Arial"/>
                        </a:rPr>
                        <a:t>1 LLM call per step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6D28D9"/>
                          </a:solidFill>
                          <a:latin typeface="Arial"/>
                        </a:rPr>
                        <a:t>MYNA (ours)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6D28D9"/>
                          </a:solidFill>
                          <a:latin typeface="Arial"/>
                        </a:rPr>
                        <a:t>✓  one voice + tap demo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6D28D9"/>
                          </a:solidFill>
                          <a:latin typeface="Arial"/>
                        </a:rPr>
                        <a:t>✓  blanks, qty, address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6D28D9"/>
                          </a:solidFill>
                          <a:latin typeface="Arial"/>
                        </a:rPr>
                        <a:t>✓  4-level finder + recovery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6D28D9"/>
                          </a:solidFill>
                          <a:latin typeface="Arial"/>
                        </a:rPr>
                        <a:t>✓  rule gate, 0 AI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6D28D9"/>
                          </a:solidFill>
                          <a:latin typeface="Arial"/>
                        </a:rPr>
                        <a:t>≈1 call per command, 0 on replay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841248" y="4754880"/>
            <a:ext cx="10515600" cy="1417320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1051560" y="48463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6D28D9"/>
                </a:solidFill>
                <a:latin typeface="Arial"/>
              </a:rPr>
              <a:t>The gap. </a:t>
            </a:r>
            <a:r>
              <a:rPr sz="1500" b="1" i="0">
                <a:solidFill>
                  <a:srgbClr val="14142B"/>
                </a:solidFill>
                <a:latin typeface="Arial"/>
              </a:rPr>
              <a:t>Nobody combines one-shot teaching, parameterised voice replay and a hard safety boundary at near-zero AI cost.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637E"/>
                </a:solidFill>
                <a:latin typeface="Arial"/>
              </a:rPr>
              <a:t>Assistants can't learn new apps; macro tools break on the next UI change; LLM agents are slow, costly and non-deterministic — they re-think every tap, every time. Record-replay research proved the idea but never stopped itself at a payment screen or handled today's apps (web views, Compose lists, buttons drawn as images).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 &amp; Architecture</a:t>
            </a:r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41248" y="1572768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6D28D9"/>
                </a:solidFill>
                <a:latin typeface="Arial"/>
              </a:rPr>
              <a:t>Show once, then just say it. </a:t>
            </a:r>
            <a:r>
              <a:rPr sz="1600" b="0" i="0">
                <a:solidFill>
                  <a:srgbClr val="14142B"/>
                </a:solidFill>
                <a:latin typeface="Arial"/>
              </a:rPr>
              <a:t>One demo becomes a recipe with blanks; a sentence replays it with new values.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41248" y="2103120"/>
            <a:ext cx="10515600" cy="1417320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Rounded Rectangle 115"/>
          <p:cNvSpPr/>
          <p:nvPr/>
        </p:nvSpPr>
        <p:spPr>
          <a:xfrm>
            <a:off x="841248" y="3749039"/>
            <a:ext cx="105156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960120" y="215798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704EA6"/>
                </a:solidFill>
                <a:latin typeface="Arial"/>
              </a:rPr>
              <a:t>TEACH TIME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60120" y="380390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704EA6"/>
                </a:solidFill>
                <a:latin typeface="Arial"/>
              </a:rPr>
              <a:t>RUN TIME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005840" y="2487168"/>
            <a:ext cx="21488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1078992" y="2532888"/>
            <a:ext cx="200253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14142B"/>
                </a:solidFill>
                <a:latin typeface="Arial"/>
              </a:rPr>
              <a:t>Voice / typed command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63637E"/>
                </a:solidFill>
                <a:latin typeface="Arial"/>
              </a:rPr>
              <a:t>"Order a Margherita from Domino's"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3520440" y="2487168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3593592" y="2532888"/>
            <a:ext cx="218541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14142B"/>
                </a:solidFill>
                <a:latin typeface="Arial"/>
              </a:rPr>
              <a:t>Recorder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63637E"/>
                </a:solidFill>
                <a:latin typeface="Arial"/>
              </a:rPr>
              <a:t>AccessibilityService events → steps, inferred hidden taps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6217920" y="2487168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6291072" y="2532888"/>
            <a:ext cx="218541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14142B"/>
                </a:solidFill>
                <a:latin typeface="Arial"/>
              </a:rPr>
              <a:t>Compiler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63637E"/>
                </a:solidFill>
                <a:latin typeface="Arial"/>
              </a:rPr>
              <a:t>deterministic blanks + 1 Gemini call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8915400" y="2487168"/>
            <a:ext cx="2286000" cy="868680"/>
          </a:xfrm>
          <a:prstGeom prst="roundRect">
            <a:avLst>
              <a:gd name="adj" fmla="val 8000"/>
            </a:avLst>
          </a:prstGeom>
          <a:solidFill>
            <a:srgbClr val="704EA6"/>
          </a:solidFill>
          <a:ln w="15875">
            <a:solidFill>
              <a:srgbClr val="704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8988552" y="2532888"/>
            <a:ext cx="213969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Recipe store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JSON on device · {item} {restaurant}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3154680" y="2921508"/>
            <a:ext cx="365760" cy="0"/>
          </a:xfrm>
          <a:prstGeom prst="line">
            <a:avLst/>
          </a:prstGeom>
          <a:ln w="1905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5852160" y="2921508"/>
            <a:ext cx="365760" cy="0"/>
          </a:xfrm>
          <a:prstGeom prst="line">
            <a:avLst/>
          </a:prstGeom>
          <a:ln w="1905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549640" y="2921508"/>
            <a:ext cx="365760" cy="0"/>
          </a:xfrm>
          <a:prstGeom prst="line">
            <a:avLst/>
          </a:prstGeom>
          <a:ln w="1905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/>
          <p:nvPr/>
        </p:nvSpPr>
        <p:spPr>
          <a:xfrm>
            <a:off x="1005840" y="4160520"/>
            <a:ext cx="21488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1078992" y="4206240"/>
            <a:ext cx="200253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14142B"/>
                </a:solidFill>
                <a:latin typeface="Arial"/>
              </a:rPr>
              <a:t>Voice command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63637E"/>
                </a:solidFill>
                <a:latin typeface="Arial"/>
              </a:rPr>
              <a:t>in-app speech + mis-hearing fix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3520440" y="416052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3593592" y="4206240"/>
            <a:ext cx="218541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14142B"/>
                </a:solidFill>
                <a:latin typeface="Arial"/>
              </a:rPr>
              <a:t>Intent matcher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63637E"/>
                </a:solidFill>
                <a:latin typeface="Arial"/>
              </a:rPr>
              <a:t>embeddings rank · blank fill · asks if unsure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217920" y="416052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TextBox 134"/>
          <p:cNvSpPr txBox="1"/>
          <p:nvPr/>
        </p:nvSpPr>
        <p:spPr>
          <a:xfrm>
            <a:off x="6291072" y="4206240"/>
            <a:ext cx="218541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14142B"/>
                </a:solidFill>
                <a:latin typeface="Arial"/>
              </a:rPr>
              <a:t>Executor (no AI)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63637E"/>
                </a:solidFill>
                <a:latin typeface="Arial"/>
              </a:rPr>
              <a:t>finder → fallbacks → goals (qty, address)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915400" y="4160520"/>
            <a:ext cx="2286000" cy="868680"/>
          </a:xfrm>
          <a:prstGeom prst="roundRect">
            <a:avLst>
              <a:gd name="adj" fmla="val 8000"/>
            </a:avLst>
          </a:prstGeom>
          <a:solidFill>
            <a:srgbClr val="14142B"/>
          </a:solidFill>
          <a:ln w="15875">
            <a:solidFill>
              <a:srgbClr val="141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8988552" y="4206240"/>
            <a:ext cx="213969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Safety gate</a:t>
            </a:r>
          </a:p>
          <a:p>
            <a:pPr algn="ctr">
              <a:spcAft>
                <a:spcPts val="1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checks every tap and type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3154680" y="4594859"/>
            <a:ext cx="365760" cy="0"/>
          </a:xfrm>
          <a:prstGeom prst="line">
            <a:avLst/>
          </a:prstGeom>
          <a:ln w="1905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5852160" y="4594859"/>
            <a:ext cx="365760" cy="0"/>
          </a:xfrm>
          <a:prstGeom prst="line">
            <a:avLst/>
          </a:prstGeom>
          <a:ln w="1905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549640" y="4594859"/>
            <a:ext cx="365760" cy="0"/>
          </a:xfrm>
          <a:prstGeom prst="line">
            <a:avLst/>
          </a:prstGeom>
          <a:ln w="1905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0058400" y="3355848"/>
            <a:ext cx="0" cy="393191"/>
          </a:xfrm>
          <a:prstGeom prst="line">
            <a:avLst/>
          </a:prstGeom>
          <a:ln w="22225">
            <a:solidFill>
              <a:srgbClr val="704E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10131552" y="340156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704EA6"/>
                </a:solidFill>
                <a:latin typeface="Arial"/>
              </a:rPr>
              <a:t>recipes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8915400" y="5349240"/>
            <a:ext cx="1097280" cy="685800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8961120" y="5376672"/>
            <a:ext cx="1005839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4142B"/>
                </a:solidFill>
                <a:latin typeface="Arial"/>
              </a:rPr>
              <a:t>Tap / type</a:t>
            </a:r>
          </a:p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63637E"/>
                </a:solidFill>
                <a:latin typeface="Arial"/>
              </a:rPr>
              <a:t>in the app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10104120" y="5349240"/>
            <a:ext cx="1097280" cy="68580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10140696" y="5371185"/>
            <a:ext cx="1024127" cy="6419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🔒 Your turn</a:t>
            </a:r>
          </a:p>
          <a:p>
            <a:pPr algn="ctr">
              <a:spcAft>
                <a:spcPts val="400"/>
              </a:spcAft>
            </a:pPr>
            <a:r>
              <a:rPr sz="850" b="0" i="0">
                <a:solidFill>
                  <a:srgbClr val="D9D3F0"/>
                </a:solidFill>
                <a:latin typeface="Arial"/>
              </a:rPr>
              <a:t>payment · OTP · login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9464040" y="5029200"/>
            <a:ext cx="0" cy="320040"/>
          </a:xfrm>
          <a:prstGeom prst="line">
            <a:avLst/>
          </a:prstGeom>
          <a:ln w="19050">
            <a:solidFill>
              <a:srgbClr val="1E8E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0652760" y="5029200"/>
            <a:ext cx="0" cy="320040"/>
          </a:xfrm>
          <a:prstGeom prst="line">
            <a:avLst/>
          </a:prstGeom>
          <a:ln w="1905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ounded Rectangle 148"/>
          <p:cNvSpPr/>
          <p:nvPr/>
        </p:nvSpPr>
        <p:spPr>
          <a:xfrm>
            <a:off x="3520440" y="534924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3566160" y="5376672"/>
            <a:ext cx="2240279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4142B"/>
                </a:solidFill>
                <a:latin typeface="Arial"/>
              </a:rPr>
              <a:t>AI helper — only when lost</a:t>
            </a:r>
          </a:p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63637E"/>
                </a:solidFill>
                <a:latin typeface="Arial"/>
              </a:rPr>
              <a:t>numbered screen list · 1 call · still gated</a:t>
            </a:r>
          </a:p>
        </p:txBody>
      </p:sp>
      <p:cxnSp>
        <p:nvCxnSpPr>
          <p:cNvPr id="151" name="Connector 150"/>
          <p:cNvCxnSpPr/>
          <p:nvPr/>
        </p:nvCxnSpPr>
        <p:spPr>
          <a:xfrm flipH="1">
            <a:off x="5852160" y="5029200"/>
            <a:ext cx="822960" cy="640080"/>
          </a:xfrm>
          <a:prstGeom prst="line">
            <a:avLst/>
          </a:prstGeom>
          <a:ln w="19050">
            <a:solidFill>
              <a:srgbClr val="63637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ounded Rectangle 151"/>
          <p:cNvSpPr/>
          <p:nvPr/>
        </p:nvSpPr>
        <p:spPr>
          <a:xfrm>
            <a:off x="6217920" y="534924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TextBox 152"/>
          <p:cNvSpPr txBox="1"/>
          <p:nvPr/>
        </p:nvSpPr>
        <p:spPr>
          <a:xfrm>
            <a:off x="6263640" y="5376672"/>
            <a:ext cx="2240279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4142B"/>
                </a:solidFill>
                <a:latin typeface="Arial"/>
              </a:rPr>
              <a:t>Run log → History</a:t>
            </a:r>
          </a:p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63637E"/>
                </a:solidFill>
                <a:latin typeface="Arial"/>
              </a:rPr>
              <a:t>"Did the last run work?"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7680960" y="5029200"/>
            <a:ext cx="0" cy="320040"/>
          </a:xfrm>
          <a:prstGeom prst="line">
            <a:avLst/>
          </a:prstGeom>
          <a:ln w="19050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1005840" y="5230368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4142B"/>
                </a:solidFill>
                <a:latin typeface="Arial"/>
              </a:rPr>
              <a:t>AI is never on the normal replay path.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3637E"/>
                </a:solidFill>
                <a:latin typeface="Arial"/>
              </a:rPr>
              <a:t>Finding buttons, tapping and the safety gate are rules — fast, repeatable, offline.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 — learning a task from one demo</a:t>
            </a:r>
            <a:endParaRPr/>
          </a:p>
        </p:txBody>
      </p:sp>
      <p:sp>
        <p:nvSpPr>
          <p:cNvPr id="114" name="Rounded Rectangle 113"/>
          <p:cNvSpPr/>
          <p:nvPr/>
        </p:nvSpPr>
        <p:spPr>
          <a:xfrm>
            <a:off x="841248" y="1691640"/>
            <a:ext cx="3429000" cy="4526280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Oval 114"/>
          <p:cNvSpPr/>
          <p:nvPr/>
        </p:nvSpPr>
        <p:spPr>
          <a:xfrm>
            <a:off x="1024128" y="1847088"/>
            <a:ext cx="438912" cy="438912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572768" y="1865376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4142B"/>
                </a:solidFill>
                <a:latin typeface="Arial"/>
              </a:rPr>
              <a:t>Capture every step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42416" y="2468880"/>
            <a:ext cx="30632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4142B"/>
                </a:solidFill>
                <a:latin typeface="Arial"/>
              </a:rPr>
              <a:t>Merges all of the app's windows into one screen tree (UiNode).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4142B"/>
                </a:solidFill>
                <a:latin typeface="Arial"/>
              </a:rPr>
              <a:t>Each tap gets an identity: label, id, sub-texts, neighbours, card anchor → a unique key.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4142B"/>
                </a:solidFill>
                <a:latin typeface="Arial"/>
              </a:rPr>
              <a:t>Taps apps hide are inferred from what changed: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63637E"/>
                </a:solidFill>
                <a:latin typeface="Arial"/>
              </a:rPr>
              <a:t>typed, then landed → search goal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63637E"/>
                </a:solidFill>
                <a:latin typeface="Arial"/>
              </a:rPr>
              <a:t>sheet closed → confirm options (+ your choices)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63637E"/>
                </a:solidFill>
                <a:latin typeface="Arial"/>
              </a:rPr>
              <a:t>keyboard gone → Enter pressed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63637E"/>
                </a:solidFill>
                <a:latin typeface="Arial"/>
              </a:rPr>
              <a:t>web page changed / cart count up → "Add to cart"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4142B"/>
                </a:solidFill>
                <a:latin typeface="Arial"/>
              </a:rPr>
              <a:t>Call screens, double taps and tap-then-Back are dropped as noise.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453128" y="1691640"/>
            <a:ext cx="3429000" cy="4526280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Oval 118"/>
          <p:cNvSpPr/>
          <p:nvPr/>
        </p:nvSpPr>
        <p:spPr>
          <a:xfrm>
            <a:off x="4636008" y="1847088"/>
            <a:ext cx="438912" cy="438912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184648" y="1865376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4142B"/>
                </a:solidFill>
                <a:latin typeface="Arial"/>
              </a:rPr>
              <a:t>Generalise into a recipe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654296" y="2468880"/>
            <a:ext cx="30632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4142B"/>
                </a:solidFill>
                <a:latin typeface="Arial"/>
              </a:rPr>
              <a:t>Blanks found without AI: spoken words that match what you typed, searched or tapped → {item}, {restaurant}.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4142B"/>
                </a:solidFill>
                <a:latin typeface="Arial"/>
              </a:rPr>
              <a:t>Half-typed or typo'd searches are completed ("margerit" → Margherita).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4142B"/>
                </a:solidFill>
                <a:latin typeface="Arial"/>
              </a:rPr>
              <a:t>1 Gemini call names blanks, writes a summary, paraphrases, a "why" per step and flags mistake steps.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4142B"/>
                </a:solidFill>
                <a:latin typeface="Arial"/>
              </a:rPr>
              <a:t>Options you picked become habit defaults.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14142B"/>
                </a:solidFill>
                <a:latin typeface="Arial"/>
              </a:rPr>
              <a:t>No key / no quota → rule-based fallback, still works.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8065008" y="1691640"/>
            <a:ext cx="3291840" cy="4526280"/>
          </a:xfrm>
          <a:prstGeom prst="roundRect">
            <a:avLst>
              <a:gd name="adj" fmla="val 8000"/>
            </a:avLst>
          </a:prstGeom>
          <a:solidFill>
            <a:srgbClr val="14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8266176" y="181051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D9D3F0"/>
                </a:solidFill>
                <a:latin typeface="Arial"/>
              </a:rPr>
              <a:t>THE LEARNED RECIPE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266176" y="2103120"/>
            <a:ext cx="2926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Order a </a:t>
            </a:r>
            <a:r>
              <a:rPr sz="1300" b="1" i="0">
                <a:solidFill>
                  <a:srgbClr val="C4B5FD"/>
                </a:solidFill>
                <a:latin typeface="Arial"/>
              </a:rPr>
              <a:t>{item}</a:t>
            </a:r>
            <a:r>
              <a:rPr sz="1300" b="1" i="0">
                <a:solidFill>
                  <a:srgbClr val="FFFFFF"/>
                </a:solidFill>
                <a:latin typeface="Arial"/>
              </a:rPr>
              <a:t> pizza from </a:t>
            </a:r>
            <a:r>
              <a:rPr sz="1300" b="1" i="0">
                <a:solidFill>
                  <a:srgbClr val="C4B5FD"/>
                </a:solidFill>
                <a:latin typeface="Arial"/>
              </a:rPr>
              <a:t>{restaurant}</a:t>
            </a:r>
            <a:r>
              <a:rPr sz="1300" b="1" i="0">
                <a:solidFill>
                  <a:srgbClr val="FFFFFF"/>
                </a:solidFill>
                <a:latin typeface="Arial"/>
              </a:rPr>
              <a:t> on Zomato</a:t>
            </a:r>
          </a:p>
        </p:txBody>
      </p:sp>
      <p:sp>
        <p:nvSpPr>
          <p:cNvPr id="125" name="Oval 124"/>
          <p:cNvSpPr/>
          <p:nvPr/>
        </p:nvSpPr>
        <p:spPr>
          <a:xfrm>
            <a:off x="8266176" y="2880360"/>
            <a:ext cx="292608" cy="29260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668512" y="2862072"/>
            <a:ext cx="25603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Open Zomato (clean start)</a:t>
            </a:r>
          </a:p>
        </p:txBody>
      </p:sp>
      <p:sp>
        <p:nvSpPr>
          <p:cNvPr id="127" name="Oval 126"/>
          <p:cNvSpPr/>
          <p:nvPr/>
        </p:nvSpPr>
        <p:spPr>
          <a:xfrm>
            <a:off x="8266176" y="3328415"/>
            <a:ext cx="292608" cy="29260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668512" y="3310127"/>
            <a:ext cx="25603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Search {restaurant} → open it</a:t>
            </a:r>
          </a:p>
        </p:txBody>
      </p:sp>
      <p:sp>
        <p:nvSpPr>
          <p:cNvPr id="129" name="Oval 128"/>
          <p:cNvSpPr/>
          <p:nvPr/>
        </p:nvSpPr>
        <p:spPr>
          <a:xfrm>
            <a:off x="8266176" y="3776472"/>
            <a:ext cx="292608" cy="29260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668512" y="3758184"/>
            <a:ext cx="25603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Search the menu for {item}</a:t>
            </a:r>
          </a:p>
        </p:txBody>
      </p:sp>
      <p:sp>
        <p:nvSpPr>
          <p:cNvPr id="131" name="Oval 130"/>
          <p:cNvSpPr/>
          <p:nvPr/>
        </p:nvSpPr>
        <p:spPr>
          <a:xfrm>
            <a:off x="8266176" y="4224528"/>
            <a:ext cx="292608" cy="29260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668512" y="4206240"/>
            <a:ext cx="25603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Tap ADD next to {item}</a:t>
            </a:r>
          </a:p>
        </p:txBody>
      </p:sp>
      <p:sp>
        <p:nvSpPr>
          <p:cNvPr id="133" name="Oval 132"/>
          <p:cNvSpPr/>
          <p:nvPr/>
        </p:nvSpPr>
        <p:spPr>
          <a:xfrm>
            <a:off x="8266176" y="4672583"/>
            <a:ext cx="292608" cy="29260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668512" y="4654296"/>
            <a:ext cx="25603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Confirm options — New Hand Tossed · Regular</a:t>
            </a:r>
          </a:p>
        </p:txBody>
      </p:sp>
      <p:sp>
        <p:nvSpPr>
          <p:cNvPr id="135" name="Oval 134"/>
          <p:cNvSpPr/>
          <p:nvPr/>
        </p:nvSpPr>
        <p:spPr>
          <a:xfrm>
            <a:off x="8266176" y="5120640"/>
            <a:ext cx="292608" cy="29260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668512" y="5102352"/>
            <a:ext cx="25603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Continue → checkout</a:t>
            </a:r>
          </a:p>
        </p:txBody>
      </p:sp>
      <p:sp>
        <p:nvSpPr>
          <p:cNvPr id="137" name="Oval 136"/>
          <p:cNvSpPr/>
          <p:nvPr/>
        </p:nvSpPr>
        <p:spPr>
          <a:xfrm>
            <a:off x="8266176" y="5568696"/>
            <a:ext cx="292608" cy="292608"/>
          </a:xfrm>
          <a:prstGeom prst="ellipse">
            <a:avLst/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668512" y="5550408"/>
            <a:ext cx="25603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🔒 Hand off at payment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266176" y="592531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D9D3F0"/>
                </a:solidFill>
                <a:latin typeface="Arial"/>
              </a:rPr>
              <a:t>Say "a farmhouse" → same recipe, new {item}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0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 — replay that recovers, safety that holds</a:t>
            </a:r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41248" y="1627632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704EA6"/>
                </a:solidFill>
                <a:latin typeface="Arial"/>
              </a:rPr>
              <a:t>Finding the right button on a changed screen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41248" y="2057400"/>
            <a:ext cx="5577840" cy="512064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Oval 115"/>
          <p:cNvSpPr/>
          <p:nvPr/>
        </p:nvSpPr>
        <p:spPr>
          <a:xfrm>
            <a:off x="932688" y="2121408"/>
            <a:ext cx="384048" cy="3840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417320" y="2093976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4142B"/>
                </a:solidFill>
                <a:latin typeface="Arial"/>
              </a:rPr>
              <a:t>Exact key  </a:t>
            </a:r>
            <a:r>
              <a:rPr sz="1050" b="0" i="0">
                <a:solidFill>
                  <a:srgbClr val="63637E"/>
                </a:solidFill>
                <a:latin typeface="Arial"/>
              </a:rPr>
              <a:t>the demo's id / label / child text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50976" y="2642616"/>
            <a:ext cx="5468112" cy="512064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Oval 118"/>
          <p:cNvSpPr/>
          <p:nvPr/>
        </p:nvSpPr>
        <p:spPr>
          <a:xfrm>
            <a:off x="1042416" y="2706624"/>
            <a:ext cx="384048" cy="3840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527048" y="2679192"/>
            <a:ext cx="4828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4142B"/>
                </a:solidFill>
                <a:latin typeface="Arial"/>
              </a:rPr>
              <a:t>Same element  </a:t>
            </a:r>
            <a:r>
              <a:rPr sz="1050" b="0" i="0">
                <a:solidFill>
                  <a:srgbClr val="63637E"/>
                </a:solidFill>
                <a:latin typeface="Arial"/>
              </a:rPr>
              <a:t>matched by neighbours and card anchor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060704" y="3227832"/>
            <a:ext cx="5358383" cy="512064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Oval 121"/>
          <p:cNvSpPr/>
          <p:nvPr/>
        </p:nvSpPr>
        <p:spPr>
          <a:xfrm>
            <a:off x="1152144" y="3291840"/>
            <a:ext cx="384048" cy="3840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636776" y="3264408"/>
            <a:ext cx="471830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4142B"/>
                </a:solidFill>
                <a:latin typeface="Arial"/>
              </a:rPr>
              <a:t>Fuzzy text  </a:t>
            </a:r>
            <a:r>
              <a:rPr sz="1050" b="0" i="0">
                <a:solidFill>
                  <a:srgbClr val="63637E"/>
                </a:solidFill>
                <a:latin typeface="Arial"/>
              </a:rPr>
              <a:t>Levenshtein ≥ 0.8, singular/plural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1170432" y="3813048"/>
            <a:ext cx="5248655" cy="512064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Oval 124"/>
          <p:cNvSpPr/>
          <p:nvPr/>
        </p:nvSpPr>
        <p:spPr>
          <a:xfrm>
            <a:off x="1261872" y="3877056"/>
            <a:ext cx="384048" cy="3840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L4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746504" y="3849624"/>
            <a:ext cx="46085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4142B"/>
                </a:solidFill>
                <a:latin typeface="Arial"/>
              </a:rPr>
              <a:t>On-device OCR  </a:t>
            </a:r>
            <a:r>
              <a:rPr sz="1050" b="0" i="0">
                <a:solidFill>
                  <a:srgbClr val="63637E"/>
                </a:solidFill>
                <a:latin typeface="Arial"/>
              </a:rPr>
              <a:t>ML Kit reads text drawn as images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280160" y="4398264"/>
            <a:ext cx="5138927" cy="512064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Oval 127"/>
          <p:cNvSpPr/>
          <p:nvPr/>
        </p:nvSpPr>
        <p:spPr>
          <a:xfrm>
            <a:off x="1371600" y="4462272"/>
            <a:ext cx="384048" cy="384048"/>
          </a:xfrm>
          <a:prstGeom prst="ellipse">
            <a:avLst/>
          </a:prstGeom>
          <a:solidFill>
            <a:srgbClr val="2E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↺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856232" y="4434840"/>
            <a:ext cx="44988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4142B"/>
                </a:solidFill>
                <a:latin typeface="Arial"/>
              </a:rPr>
              <a:t>Bounded fallbacks  </a:t>
            </a:r>
            <a:r>
              <a:rPr sz="1050" b="0" i="0">
                <a:solidFill>
                  <a:srgbClr val="63637E"/>
                </a:solidFill>
                <a:latin typeface="Arial"/>
              </a:rPr>
              <a:t>close pop-up (✕ only) · open search · Enter · scroll · best result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1389888" y="4983480"/>
            <a:ext cx="5029200" cy="512064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Oval 130"/>
          <p:cNvSpPr/>
          <p:nvPr/>
        </p:nvSpPr>
        <p:spPr>
          <a:xfrm>
            <a:off x="1481328" y="5047488"/>
            <a:ext cx="384048" cy="384048"/>
          </a:xfrm>
          <a:prstGeom prst="ellipse">
            <a:avLst/>
          </a:prstGeom>
          <a:solidFill>
            <a:srgbClr val="2E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AI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965960" y="5020056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4142B"/>
                </a:solidFill>
                <a:latin typeface="Arial"/>
              </a:rPr>
              <a:t>Last resort  </a:t>
            </a:r>
            <a:r>
              <a:rPr sz="1050" b="0" i="0">
                <a:solidFill>
                  <a:srgbClr val="63637E"/>
                </a:solidFill>
                <a:latin typeface="Arial"/>
              </a:rPr>
              <a:t>Gemini picks from a numbered list — still gated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1499616" y="5568696"/>
            <a:ext cx="4919472" cy="512064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Oval 133"/>
          <p:cNvSpPr/>
          <p:nvPr/>
        </p:nvSpPr>
        <p:spPr>
          <a:xfrm>
            <a:off x="1591056" y="5632704"/>
            <a:ext cx="384048" cy="38404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■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075688" y="5605272"/>
            <a:ext cx="42793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4142B"/>
                </a:solidFill>
                <a:latin typeface="Arial"/>
              </a:rPr>
              <a:t>Stop with a reason  </a:t>
            </a:r>
            <a:r>
              <a:rPr sz="1050" b="0" i="0">
                <a:solidFill>
                  <a:srgbClr val="63637E"/>
                </a:solidFill>
                <a:latin typeface="Arial"/>
              </a:rPr>
              <a:t>closed restaurant · Hindi screen · no progress in 30 s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6720840" y="1627632"/>
            <a:ext cx="4636008" cy="4590288"/>
          </a:xfrm>
          <a:prstGeom prst="roundRect">
            <a:avLst>
              <a:gd name="adj" fmla="val 8000"/>
            </a:avLst>
          </a:prstGeom>
          <a:solidFill>
            <a:srgbClr val="14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6949440" y="17373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🔒  Safety gate — rules only, zero AI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949440" y="2240280"/>
            <a:ext cx="4178808" cy="475488"/>
          </a:xfrm>
          <a:prstGeom prst="roundRect">
            <a:avLst>
              <a:gd name="adj" fmla="val 8000"/>
            </a:avLst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7086600" y="2267712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Payment screens  </a:t>
            </a:r>
            <a:r>
              <a:rPr sz="1050" b="0" i="0">
                <a:solidFill>
                  <a:srgbClr val="D9D3F0"/>
                </a:solidFill>
                <a:latin typeface="Arial"/>
              </a:rPr>
              <a:t>UPI / card / wallet / EMI choices, pay buttons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949440" y="2807208"/>
            <a:ext cx="4178808" cy="475488"/>
          </a:xfrm>
          <a:prstGeom prst="roundRect">
            <a:avLst>
              <a:gd name="adj" fmla="val 8000"/>
            </a:avLst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TextBox 140"/>
          <p:cNvSpPr txBox="1"/>
          <p:nvPr/>
        </p:nvSpPr>
        <p:spPr>
          <a:xfrm>
            <a:off x="7086600" y="2834640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Credentials  </a:t>
            </a:r>
            <a:r>
              <a:rPr sz="1050" b="0" i="0">
                <a:solidFill>
                  <a:srgbClr val="D9D3F0"/>
                </a:solidFill>
                <a:latin typeface="Arial"/>
              </a:rPr>
              <a:t>password, OTP and secure fields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6949440" y="3374136"/>
            <a:ext cx="4178808" cy="475488"/>
          </a:xfrm>
          <a:prstGeom prst="roundRect">
            <a:avLst>
              <a:gd name="adj" fmla="val 8000"/>
            </a:avLst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TextBox 142"/>
          <p:cNvSpPr txBox="1"/>
          <p:nvPr/>
        </p:nvSpPr>
        <p:spPr>
          <a:xfrm>
            <a:off x="7086600" y="3401568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Final commit  </a:t>
            </a:r>
            <a:r>
              <a:rPr sz="1050" b="0" i="0">
                <a:solidFill>
                  <a:srgbClr val="D9D3F0"/>
                </a:solidFill>
                <a:latin typeface="Arial"/>
              </a:rPr>
              <a:t>Place order, Pay, Send order to business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949440" y="3941064"/>
            <a:ext cx="4178808" cy="475488"/>
          </a:xfrm>
          <a:prstGeom prst="roundRect">
            <a:avLst>
              <a:gd name="adj" fmla="val 8000"/>
            </a:avLst>
          </a:prstGeom>
          <a:solidFill>
            <a:srgbClr val="2A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7086600" y="3968496"/>
            <a:ext cx="3931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Login screens  </a:t>
            </a:r>
            <a:r>
              <a:rPr sz="1050" b="0" i="0">
                <a:solidFill>
                  <a:srgbClr val="D9D3F0"/>
                </a:solidFill>
                <a:latin typeface="Arial"/>
              </a:rPr>
              <a:t>sign-in and account walls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949440" y="4572000"/>
            <a:ext cx="420624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C4B5FD"/>
                </a:solidFill>
                <a:latin typeface="Arial"/>
              </a:rPr>
              <a:t>GatedActor </a:t>
            </a:r>
            <a:r>
              <a:rPr sz="1100" b="0" i="0">
                <a:solidFill>
                  <a:srgbClr val="FFFFFF"/>
                </a:solidFill>
                <a:latin typeface="Arial"/>
              </a:rPr>
              <a:t>is the only code path that can tap or type — every action is checked first.</a:t>
            </a:r>
          </a:p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C4B5FD"/>
                </a:solidFill>
                <a:latin typeface="Arial"/>
              </a:rPr>
              <a:t>One exception: </a:t>
            </a:r>
            <a:r>
              <a:rPr sz="1100" b="0" i="0">
                <a:solidFill>
                  <a:srgbClr val="FFFFFF"/>
                </a:solidFill>
                <a:latin typeface="Arial"/>
              </a:rPr>
              <a:t>choosing a saved address on the checkout screen ("deliver to work").</a:t>
            </a:r>
          </a:p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C4B5FD"/>
                </a:solidFill>
                <a:latin typeface="Arial"/>
              </a:rPr>
              <a:t>Tuned on real screens: </a:t>
            </a:r>
            <a:r>
              <a:rPr sz="1100" b="0" i="0">
                <a:solidFill>
                  <a:srgbClr val="FFFFFF"/>
                </a:solidFill>
                <a:latin typeface="Arial"/>
              </a:rPr>
              <a:t>cart offers, a Wallet tab and colour radios are not payment.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Rounded Rectangle 119"/>
          <p:cNvSpPr/>
          <p:nvPr/>
        </p:nvSpPr>
        <p:spPr>
          <a:xfrm>
            <a:off x="804671" y="1627632"/>
            <a:ext cx="2111560" cy="4425696"/>
          </a:xfrm>
          <a:prstGeom prst="roundRect">
            <a:avLst>
              <a:gd name="adj" fmla="val 9000"/>
            </a:avLst>
          </a:prstGeom>
          <a:solidFill>
            <a:srgbClr val="14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1" name="Picture 120" descr="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1983544" cy="4297680"/>
          </a:xfrm>
          <a:prstGeom prst="rect">
            <a:avLst/>
          </a:prstGeom>
        </p:spPr>
      </p:pic>
      <p:sp>
        <p:nvSpPr>
          <p:cNvPr id="122" name="Rounded Rectangle 121"/>
          <p:cNvSpPr/>
          <p:nvPr/>
        </p:nvSpPr>
        <p:spPr>
          <a:xfrm>
            <a:off x="3108256" y="1627632"/>
            <a:ext cx="2111560" cy="4425696"/>
          </a:xfrm>
          <a:prstGeom prst="roundRect">
            <a:avLst>
              <a:gd name="adj" fmla="val 9000"/>
            </a:avLst>
          </a:prstGeom>
          <a:solidFill>
            <a:srgbClr val="14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3" name="Picture 122" descr="r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264" y="1691640"/>
            <a:ext cx="1983544" cy="4297680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868680" y="6053328"/>
            <a:ext cx="19835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63637E"/>
                </a:solidFill>
                <a:latin typeface="Arial"/>
              </a:rPr>
              <a:t>Home: mic + saved automations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172264" y="6053328"/>
            <a:ext cx="19835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63637E"/>
                </a:solidFill>
                <a:latin typeface="Arial"/>
              </a:rPr>
              <a:t>Replay: live progress, ■ Stop</a:t>
            </a:r>
          </a:p>
        </p:txBody>
      </p:sp>
      <p:sp>
        <p:nvSpPr>
          <p:cNvPr id="126" name="Oval 125"/>
          <p:cNvSpPr/>
          <p:nvPr/>
        </p:nvSpPr>
        <p:spPr>
          <a:xfrm>
            <a:off x="5613009" y="1728216"/>
            <a:ext cx="402336" cy="402336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161649" y="1691640"/>
            <a:ext cx="519519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14142B"/>
                </a:solidFill>
                <a:latin typeface="Arial"/>
              </a:rPr>
              <a:t>Teach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63637E"/>
                </a:solidFill>
                <a:latin typeface="Arial"/>
              </a:rPr>
              <a:t>Say "Order a Margherita pizza from Domino's on Zomato", tap Show me once and just do it. The 🔒 stops the demo at payment.</a:t>
            </a:r>
          </a:p>
        </p:txBody>
      </p:sp>
      <p:sp>
        <p:nvSpPr>
          <p:cNvPr id="128" name="Oval 127"/>
          <p:cNvSpPr/>
          <p:nvPr/>
        </p:nvSpPr>
        <p:spPr>
          <a:xfrm>
            <a:off x="5613009" y="2514600"/>
            <a:ext cx="402336" cy="402336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161649" y="2478024"/>
            <a:ext cx="519519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14142B"/>
                </a:solidFill>
                <a:latin typeface="Arial"/>
              </a:rPr>
              <a:t>Learned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63637E"/>
                </a:solidFill>
                <a:latin typeface="Arial"/>
              </a:rPr>
              <a:t>MYNA says "Learned: …" and shows every step with its why. Mistake taps are left out.</a:t>
            </a:r>
          </a:p>
        </p:txBody>
      </p:sp>
      <p:sp>
        <p:nvSpPr>
          <p:cNvPr id="130" name="Oval 129"/>
          <p:cNvSpPr/>
          <p:nvPr/>
        </p:nvSpPr>
        <p:spPr>
          <a:xfrm>
            <a:off x="5613009" y="3300984"/>
            <a:ext cx="402336" cy="402336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161649" y="3264408"/>
            <a:ext cx="519519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14142B"/>
                </a:solidFill>
                <a:latin typeface="Arial"/>
              </a:rPr>
              <a:t>Just say it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63637E"/>
                </a:solidFill>
                <a:latin typeface="Arial"/>
              </a:rPr>
              <a:t>Tap the mic: "get me 2 farmhouses from dominos, deliver to work". A chat confirms what it heard.</a:t>
            </a:r>
          </a:p>
        </p:txBody>
      </p:sp>
      <p:sp>
        <p:nvSpPr>
          <p:cNvPr id="132" name="Oval 131"/>
          <p:cNvSpPr/>
          <p:nvPr/>
        </p:nvSpPr>
        <p:spPr>
          <a:xfrm>
            <a:off x="5613009" y="4087368"/>
            <a:ext cx="402336" cy="402336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161649" y="4050791"/>
            <a:ext cx="519519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14142B"/>
                </a:solidFill>
                <a:latin typeface="Arial"/>
              </a:rPr>
              <a:t>Replay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63637E"/>
                </a:solidFill>
                <a:latin typeface="Arial"/>
              </a:rPr>
              <a:t>MYNA opens Zomato, searches, adds, sets quantity and address — asking only if unsure.</a:t>
            </a:r>
          </a:p>
        </p:txBody>
      </p:sp>
      <p:sp>
        <p:nvSpPr>
          <p:cNvPr id="134" name="Oval 133"/>
          <p:cNvSpPr/>
          <p:nvPr/>
        </p:nvSpPr>
        <p:spPr>
          <a:xfrm>
            <a:off x="5613009" y="4873752"/>
            <a:ext cx="402336" cy="402336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161649" y="4837176"/>
            <a:ext cx="519519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 i="0">
                <a:solidFill>
                  <a:srgbClr val="14142B"/>
                </a:solidFill>
                <a:latin typeface="Arial"/>
              </a:rPr>
              <a:t>Your turn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63637E"/>
                </a:solidFill>
                <a:latin typeface="Arial"/>
              </a:rPr>
              <a:t>Zero taps on payment. "Did the last run work?" → one-sentence report; History shows each step.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613009" y="5669280"/>
            <a:ext cx="5743838" cy="54864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5750169" y="5751576"/>
            <a:ext cx="546951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▶ Demo video (≤ 5 min): </a:t>
            </a:r>
            <a:r>
              <a:rPr sz="1100" b="0" i="0">
                <a:solidFill>
                  <a:srgbClr val="D9D3F0"/>
                </a:solidFill>
                <a:latin typeface="Arial"/>
              </a:rPr>
              <a:t>drive.google.com/file/d/1DHrpgInpbme7hSHadp0A3DoQJjBCN2yX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Rounded Rectangle 125"/>
          <p:cNvSpPr/>
          <p:nvPr/>
        </p:nvSpPr>
        <p:spPr>
          <a:xfrm>
            <a:off x="841248" y="1691640"/>
            <a:ext cx="5166360" cy="987552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Oval 126"/>
          <p:cNvSpPr/>
          <p:nvPr/>
        </p:nvSpPr>
        <p:spPr>
          <a:xfrm>
            <a:off x="1024128" y="1956816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664208" y="1783080"/>
            <a:ext cx="4206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4142B"/>
                </a:solidFill>
                <a:latin typeface="Arial"/>
              </a:rPr>
              <a:t>App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3637E"/>
                </a:solidFill>
                <a:latin typeface="Arial"/>
              </a:rPr>
              <a:t>Kotlin 2.2 · Jetpack Compose (Material 3) · minSdk 30 (Android 11+) · Poppins UI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6190488" y="1691640"/>
            <a:ext cx="5166360" cy="987552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Oval 129"/>
          <p:cNvSpPr/>
          <p:nvPr/>
        </p:nvSpPr>
        <p:spPr>
          <a:xfrm>
            <a:off x="6373368" y="1956816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013448" y="1783080"/>
            <a:ext cx="4206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4142B"/>
                </a:solidFill>
                <a:latin typeface="Arial"/>
              </a:rPr>
              <a:t>Screen control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3637E"/>
                </a:solidFill>
                <a:latin typeface="Arial"/>
              </a:rPr>
              <a:t>AccessibilityService: window trees, events, gestures, screenshots, key events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841248" y="2816352"/>
            <a:ext cx="5166360" cy="987552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Oval 132"/>
          <p:cNvSpPr/>
          <p:nvPr/>
        </p:nvSpPr>
        <p:spPr>
          <a:xfrm>
            <a:off x="1024128" y="3081528"/>
            <a:ext cx="457200" cy="45720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664208" y="2907792"/>
            <a:ext cx="4206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4142B"/>
                </a:solidFill>
                <a:latin typeface="Arial"/>
              </a:rPr>
              <a:t>Vision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3637E"/>
                </a:solidFill>
                <a:latin typeface="Arial"/>
              </a:rPr>
              <a:t>ML Kit on-device text recognition — reads buttons drawn as images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190488" y="2816352"/>
            <a:ext cx="5166360" cy="987552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Oval 135"/>
          <p:cNvSpPr/>
          <p:nvPr/>
        </p:nvSpPr>
        <p:spPr>
          <a:xfrm>
            <a:off x="6373368" y="3081528"/>
            <a:ext cx="457200" cy="45720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013448" y="2907792"/>
            <a:ext cx="4206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4142B"/>
                </a:solidFill>
                <a:latin typeface="Arial"/>
              </a:rPr>
              <a:t>Language AI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3637E"/>
                </a:solidFill>
                <a:latin typeface="Arial"/>
              </a:rPr>
              <a:t>Gemini Flash (JSON schema, temp 0, 1 retry) · gemini-embedding-001 for intent ranking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841248" y="3941064"/>
            <a:ext cx="5166360" cy="987552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Oval 138"/>
          <p:cNvSpPr/>
          <p:nvPr/>
        </p:nvSpPr>
        <p:spPr>
          <a:xfrm>
            <a:off x="1024128" y="4206240"/>
            <a:ext cx="457200" cy="457200"/>
          </a:xfrm>
          <a:prstGeom prst="ellipse">
            <a:avLst/>
          </a:prstGeom>
          <a:solidFill>
            <a:srgbClr val="2E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664208" y="4032504"/>
            <a:ext cx="4206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4142B"/>
                </a:solidFill>
                <a:latin typeface="Arial"/>
              </a:rPr>
              <a:t>Voice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3637E"/>
                </a:solidFill>
                <a:latin typeface="Arial"/>
              </a:rPr>
              <a:t>Android SpeechRecognizer in-app, partial results, biased to recipe words · TextToSpeech replies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6190488" y="3941064"/>
            <a:ext cx="5166360" cy="987552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Oval 141"/>
          <p:cNvSpPr/>
          <p:nvPr/>
        </p:nvSpPr>
        <p:spPr>
          <a:xfrm>
            <a:off x="6373368" y="4206240"/>
            <a:ext cx="457200" cy="457200"/>
          </a:xfrm>
          <a:prstGeom prst="ellipse">
            <a:avLst/>
          </a:prstGeom>
          <a:solidFill>
            <a:srgbClr val="2E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013448" y="4032504"/>
            <a:ext cx="4206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4142B"/>
                </a:solidFill>
                <a:latin typeface="Arial"/>
              </a:rPr>
              <a:t>Data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3637E"/>
                </a:solidFill>
                <a:latin typeface="Arial"/>
              </a:rPr>
              <a:t>kotlinx.serialization JSON recipes &amp; run logs on device · private apps never sent to AI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841248" y="5065776"/>
            <a:ext cx="5166360" cy="987552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Oval 144"/>
          <p:cNvSpPr/>
          <p:nvPr/>
        </p:nvSpPr>
        <p:spPr>
          <a:xfrm>
            <a:off x="1024128" y="5330952"/>
            <a:ext cx="457200" cy="457200"/>
          </a:xfrm>
          <a:prstGeom prst="ellipse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Q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664208" y="5157216"/>
            <a:ext cx="4206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4142B"/>
                </a:solidFill>
                <a:latin typeface="Arial"/>
              </a:rPr>
              <a:t>Quality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3637E"/>
                </a:solidFill>
                <a:latin typeface="Arial"/>
              </a:rPr>
              <a:t>172 JVM tests (full replays on fake Zomato &amp; Amazon built from real screen dumps) + 8 on-device tests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190488" y="5065776"/>
            <a:ext cx="5166360" cy="987552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Oval 147"/>
          <p:cNvSpPr/>
          <p:nvPr/>
        </p:nvSpPr>
        <p:spPr>
          <a:xfrm>
            <a:off x="6373368" y="5330952"/>
            <a:ext cx="457200" cy="457200"/>
          </a:xfrm>
          <a:prstGeom prst="ellipse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013448" y="5157216"/>
            <a:ext cx="4206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4142B"/>
                </a:solidFill>
                <a:latin typeface="Arial"/>
              </a:rPr>
              <a:t>Build &amp; tools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3637E"/>
                </a:solidFill>
                <a:latin typeface="Arial"/>
              </a:rPr>
              <a:t>Android Studio · Gradle AGP 9 · adb debug hook for dumps/replays · GitHub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Cases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Rounded Rectangle 131"/>
          <p:cNvSpPr/>
          <p:nvPr/>
        </p:nvSpPr>
        <p:spPr>
          <a:xfrm>
            <a:off x="841248" y="169164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14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978408" y="1755648"/>
            <a:ext cx="2240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8–15 → 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78408" y="2487168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D9D3F0"/>
                </a:solidFill>
                <a:latin typeface="Arial"/>
              </a:rPr>
              <a:t>taps become one sentence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3520440" y="169164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3657600" y="1755648"/>
            <a:ext cx="2240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6D28D9"/>
                </a:solidFill>
                <a:latin typeface="Arial"/>
              </a:rP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657600" y="2487168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3637E"/>
                </a:solidFill>
                <a:latin typeface="Arial"/>
              </a:rPr>
              <a:t>taps on payment, OTP or login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199632" y="169164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6336792" y="1755648"/>
            <a:ext cx="2240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6D28D9"/>
                </a:solidFill>
                <a:latin typeface="Arial"/>
              </a:rPr>
              <a:t>≈1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336792" y="2487168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3637E"/>
                </a:solidFill>
                <a:latin typeface="Arial"/>
              </a:rPr>
              <a:t>AI call per voice command — 0 on the replay path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8878824" y="1691640"/>
            <a:ext cx="2514600" cy="1417320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9015984" y="1755648"/>
            <a:ext cx="22402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6D28D9"/>
                </a:solidFill>
                <a:latin typeface="Arial"/>
              </a:rPr>
              <a:t>Any app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015984" y="2487168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3637E"/>
                </a:solidFill>
                <a:latin typeface="Arial"/>
              </a:rPr>
              <a:t>from the launcher — no SDK, no partner deal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841248" y="3337560"/>
            <a:ext cx="5166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1024128" y="3410712"/>
            <a:ext cx="48006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704EA6"/>
                </a:solidFill>
                <a:latin typeface="Arial"/>
              </a:rPr>
              <a:t>Everyday re-orders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4142B"/>
                </a:solidFill>
                <a:latin typeface="Arial"/>
              </a:rPr>
              <a:t>"My usual pizza", weekly groceries, medicines, a phone case — the same flow with a new item or quantity.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190488" y="3337560"/>
            <a:ext cx="5166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TextBox 146"/>
          <p:cNvSpPr txBox="1"/>
          <p:nvPr/>
        </p:nvSpPr>
        <p:spPr>
          <a:xfrm>
            <a:off x="6373368" y="3410712"/>
            <a:ext cx="48006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704EA6"/>
                </a:solidFill>
                <a:latin typeface="Arial"/>
              </a:rPr>
              <a:t>Accessibility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4142B"/>
                </a:solidFill>
                <a:latin typeface="Arial"/>
              </a:rPr>
              <a:t>Older users and people with low vision or motor impairments say one sentence instead of hitting many small targets.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841248" y="4315968"/>
            <a:ext cx="5166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TextBox 148"/>
          <p:cNvSpPr txBox="1"/>
          <p:nvPr/>
        </p:nvSpPr>
        <p:spPr>
          <a:xfrm>
            <a:off x="1024128" y="4389120"/>
            <a:ext cx="48006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704EA6"/>
                </a:solidFill>
                <a:latin typeface="Arial"/>
              </a:rPr>
              <a:t>Hands busy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4142B"/>
                </a:solidFill>
                <a:latin typeface="Arial"/>
              </a:rPr>
              <a:t>Cooking, carrying, multitasking: speak the task, check the result, press pay yourself.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190488" y="4315968"/>
            <a:ext cx="51663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TextBox 150"/>
          <p:cNvSpPr txBox="1"/>
          <p:nvPr/>
        </p:nvSpPr>
        <p:spPr>
          <a:xfrm>
            <a:off x="6373368" y="4389120"/>
            <a:ext cx="48006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704EA6"/>
                </a:solidFill>
                <a:latin typeface="Arial"/>
              </a:rPr>
              <a:t>Samsung ecosystem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4142B"/>
                </a:solidFill>
                <a:latin typeface="Arial"/>
              </a:rPr>
              <a:t>A teachable layer for Bixby: users add their own skills on any app, with no integration from the app maker.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841248" y="5294376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TextBox 152"/>
          <p:cNvSpPr txBox="1"/>
          <p:nvPr/>
        </p:nvSpPr>
        <p:spPr>
          <a:xfrm>
            <a:off x="1024128" y="5367528"/>
            <a:ext cx="101498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704EA6"/>
                </a:solidFill>
                <a:latin typeface="Arial"/>
              </a:rPr>
              <a:t>Privacy-first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4142B"/>
                </a:solidFill>
                <a:latin typeface="Arial"/>
              </a:rPr>
              <a:t>Recipes and logs stay on the phone. Messaging apps (WhatsApp, SMS) are never sent to AI or saved as screens.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38" name="Rounded Rectangle 137"/>
          <p:cNvSpPr/>
          <p:nvPr/>
        </p:nvSpPr>
        <p:spPr>
          <a:xfrm>
            <a:off x="841248" y="169164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Oval 138"/>
          <p:cNvSpPr/>
          <p:nvPr/>
        </p:nvSpPr>
        <p:spPr>
          <a:xfrm>
            <a:off x="1042416" y="1892808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42416" y="24688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4142B"/>
                </a:solidFill>
                <a:latin typeface="Arial"/>
              </a:rPr>
              <a:t>Learns what apps hide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42416" y="2862072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3637E"/>
                </a:solidFill>
                <a:latin typeface="Arial"/>
              </a:rPr>
              <a:t>Web views, Compose lists and buttons drawn as images send no events — MYNA infers those taps from what changed on screen.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4407408" y="169164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Oval 142"/>
          <p:cNvSpPr/>
          <p:nvPr/>
        </p:nvSpPr>
        <p:spPr>
          <a:xfrm>
            <a:off x="4608576" y="1892808"/>
            <a:ext cx="457200" cy="45720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608576" y="24688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4142B"/>
                </a:solidFill>
                <a:latin typeface="Arial"/>
              </a:rPr>
              <a:t>Blanks without guessing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608576" y="2862072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3637E"/>
                </a:solidFill>
                <a:latin typeface="Arial"/>
              </a:rPr>
              <a:t>{item}, {restaurant} come from matching your words to your taps — deterministic; AI only names and explains them.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7973568" y="169164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Oval 146"/>
          <p:cNvSpPr/>
          <p:nvPr/>
        </p:nvSpPr>
        <p:spPr>
          <a:xfrm>
            <a:off x="8174736" y="1892808"/>
            <a:ext cx="457200" cy="457200"/>
          </a:xfrm>
          <a:prstGeom prst="ellipse">
            <a:avLst/>
          </a:prstGeom>
          <a:solidFill>
            <a:srgbClr val="2E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174736" y="24688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4142B"/>
                </a:solidFill>
                <a:latin typeface="Arial"/>
              </a:rPr>
              <a:t>Never-taught parameters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174736" y="2862072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3637E"/>
                </a:solidFill>
                <a:latin typeface="Arial"/>
              </a:rPr>
              <a:t>"2 margheritas, deliver to work" → taps + on the stepper and picks the Work address: steps never shown in the demo.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841248" y="3977639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Oval 150"/>
          <p:cNvSpPr/>
          <p:nvPr/>
        </p:nvSpPr>
        <p:spPr>
          <a:xfrm>
            <a:off x="1042416" y="4178807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42416" y="4754879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4142B"/>
                </a:solidFill>
                <a:latin typeface="Arial"/>
              </a:rPr>
              <a:t>Asks instead of guessing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42416" y="5148072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3637E"/>
                </a:solidFill>
                <a:latin typeface="Arial"/>
              </a:rPr>
              <a:t>"Did you mean … like last time?", "Which restaurant?", confirms 2+ changes, asks for a finger tap when an app refuses.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4407408" y="3977639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Oval 154"/>
          <p:cNvSpPr/>
          <p:nvPr/>
        </p:nvSpPr>
        <p:spPr>
          <a:xfrm>
            <a:off x="4608576" y="4178807"/>
            <a:ext cx="457200" cy="45720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608576" y="4754879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4142B"/>
                </a:solidFill>
                <a:latin typeface="Arial"/>
              </a:rPr>
              <a:t>AI off the hot path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608576" y="5148072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3637E"/>
                </a:solidFill>
                <a:latin typeface="Arial"/>
              </a:rPr>
              <a:t>Replay, finding and safety are rules: repeatable and offline. Gemini is used 3 ways, each with a fallback.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7973568" y="3977639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Oval 158"/>
          <p:cNvSpPr/>
          <p:nvPr/>
        </p:nvSpPr>
        <p:spPr>
          <a:xfrm>
            <a:off x="8174736" y="4178807"/>
            <a:ext cx="457200" cy="457200"/>
          </a:xfrm>
          <a:prstGeom prst="ellipse">
            <a:avLst/>
          </a:prstGeom>
          <a:solidFill>
            <a:srgbClr val="2E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174736" y="4754879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4142B"/>
                </a:solidFill>
                <a:latin typeface="Arial"/>
              </a:rPr>
              <a:t>Built for real phones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174736" y="5148072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3637E"/>
                </a:solidFill>
                <a:latin typeface="Arial"/>
              </a:rPr>
              <a:t>Speech mis-hearing fixes, slow-network waits, pop-ups closed by ✕ only, closed-restaurant and Hindi-screen stops.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Results — all 14 official test cases</a:t>
            </a:r>
            <a:endParaRPr b="1" sz="4400">
              <a:solidFill>
                <a:srgbClr val="704EA6"/>
              </a:solidFill>
            </a:endParaRPr>
          </a:p>
        </p:txBody>
      </p:sp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841248" y="1645920"/>
          <a:ext cx="5852160" cy="43205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40080"/>
                <a:gridCol w="3657600"/>
                <a:gridCol w="1554480"/>
              </a:tblGrid>
              <a:tr h="28803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73152" marR="73152" marT="27432" marB="27432" anchor="ctr">
                    <a:solidFill>
                      <a:srgbClr val="704EA6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 marL="73152" marR="73152" marT="27432" marB="27432" anchor="ctr">
                    <a:solidFill>
                      <a:srgbClr val="704EA6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73152" marR="73152" marT="27432" marB="27432" anchor="ctr">
                    <a:solidFill>
                      <a:srgbClr val="704EA6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42B"/>
                          </a:solidFill>
                          <a:latin typeface="Arial"/>
                        </a:rPr>
                        <a:t>T1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42B"/>
                          </a:solidFill>
                          <a:latin typeface="Arial"/>
                        </a:rPr>
                        <a:t>Teach — food (Zomato)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8E4E"/>
                          </a:solidFill>
                          <a:latin typeface="Arial"/>
                        </a:rPr>
                        <a:t>✓ 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42B"/>
                          </a:solidFill>
                          <a:latin typeface="Arial"/>
                        </a:rPr>
                        <a:t>T2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42B"/>
                          </a:solidFill>
                          <a:latin typeface="Arial"/>
                        </a:rPr>
                        <a:t>Exact replay to payment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8E4E"/>
                          </a:solidFill>
                          <a:latin typeface="Arial"/>
                        </a:rPr>
                        <a:t>✓ Pass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42B"/>
                          </a:solidFill>
                          <a:latin typeface="Arial"/>
                        </a:rPr>
                        <a:t>T3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42B"/>
                          </a:solidFill>
                          <a:latin typeface="Arial"/>
                        </a:rPr>
                        <a:t>Paraphrase (2 wordings)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8E4E"/>
                          </a:solidFill>
                          <a:latin typeface="Arial"/>
                        </a:rPr>
                        <a:t>✓ 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42B"/>
                          </a:solidFill>
                          <a:latin typeface="Arial"/>
                        </a:rPr>
                        <a:t>T4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42B"/>
                          </a:solidFill>
                          <a:latin typeface="Arial"/>
                        </a:rPr>
                        <a:t>Slot: item (Farmhouse)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8E4E"/>
                          </a:solidFill>
                          <a:latin typeface="Arial"/>
                        </a:rPr>
                        <a:t>✓ Pass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42B"/>
                          </a:solidFill>
                          <a:latin typeface="Arial"/>
                        </a:rPr>
                        <a:t>T5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42B"/>
                          </a:solidFill>
                          <a:latin typeface="Arial"/>
                        </a:rPr>
                        <a:t>Slot: quantity (two)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8E4E"/>
                          </a:solidFill>
                          <a:latin typeface="Arial"/>
                        </a:rPr>
                        <a:t>✓ 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42B"/>
                          </a:solidFill>
                          <a:latin typeface="Arial"/>
                        </a:rPr>
                        <a:t>T6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42B"/>
                          </a:solidFill>
                          <a:latin typeface="Arial"/>
                        </a:rPr>
                        <a:t>Slot: address (work)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8E4E"/>
                          </a:solidFill>
                          <a:latin typeface="Arial"/>
                        </a:rPr>
                        <a:t>✓ Pass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42B"/>
                          </a:solidFill>
                          <a:latin typeface="Arial"/>
                        </a:rPr>
                        <a:t>T7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42B"/>
                          </a:solidFill>
                          <a:latin typeface="Arial"/>
                        </a:rPr>
                        <a:t>Screen change / pop-up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8E4E"/>
                          </a:solidFill>
                          <a:latin typeface="Arial"/>
                        </a:rPr>
                        <a:t>✓ 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42B"/>
                          </a:solidFill>
                          <a:latin typeface="Arial"/>
                        </a:rPr>
                        <a:t>T8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42B"/>
                          </a:solidFill>
                          <a:latin typeface="Arial"/>
                        </a:rPr>
                        <a:t>Teach — e-commerce (Amazon)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8E4E"/>
                          </a:solidFill>
                          <a:latin typeface="Arial"/>
                        </a:rPr>
                        <a:t>✓ Pass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42B"/>
                          </a:solidFill>
                          <a:latin typeface="Arial"/>
                        </a:rPr>
                        <a:t>T9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42B"/>
                          </a:solidFill>
                          <a:latin typeface="Arial"/>
                        </a:rPr>
                        <a:t>Cross-app slot + replay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8E4E"/>
                          </a:solidFill>
                          <a:latin typeface="Arial"/>
                        </a:rPr>
                        <a:t>✓ 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42B"/>
                          </a:solidFill>
                          <a:latin typeface="Arial"/>
                        </a:rPr>
                        <a:t>T10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42B"/>
                          </a:solidFill>
                          <a:latin typeface="Arial"/>
                        </a:rPr>
                        <a:t>Genuinely stuck → reports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8E4E"/>
                          </a:solidFill>
                          <a:latin typeface="Arial"/>
                        </a:rPr>
                        <a:t>✓ Pass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42B"/>
                          </a:solidFill>
                          <a:latin typeface="Arial"/>
                        </a:rPr>
                        <a:t>T11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42B"/>
                          </a:solidFill>
                          <a:latin typeface="Arial"/>
                        </a:rPr>
                        <a:t>Credential boundary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8E4E"/>
                          </a:solidFill>
                          <a:latin typeface="Arial"/>
                        </a:rPr>
                        <a:t>✓ 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42B"/>
                          </a:solidFill>
                          <a:latin typeface="Arial"/>
                        </a:rPr>
                        <a:t>T12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42B"/>
                          </a:solidFill>
                          <a:latin typeface="Arial"/>
                        </a:rPr>
                        <a:t>Unknown intent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8E4E"/>
                          </a:solidFill>
                          <a:latin typeface="Arial"/>
                        </a:rPr>
                        <a:t>✓ Pass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42B"/>
                          </a:solidFill>
                          <a:latin typeface="Arial"/>
                        </a:rPr>
                        <a:t>T13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42B"/>
                          </a:solidFill>
                          <a:latin typeface="Arial"/>
                        </a:rPr>
                        <a:t>Ambiguity → asks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8E4E"/>
                          </a:solidFill>
                          <a:latin typeface="Arial"/>
                        </a:rPr>
                        <a:t>✓ Pass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42B"/>
                          </a:solidFill>
                          <a:latin typeface="Arial"/>
                        </a:rPr>
                        <a:t>T14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42B"/>
                          </a:solidFill>
                          <a:latin typeface="Arial"/>
                        </a:rPr>
                        <a:t>Reporting the last run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E8E4E"/>
                          </a:solidFill>
                          <a:latin typeface="Arial"/>
                        </a:rPr>
                        <a:t>✓ Pass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9" name="TextBox 138"/>
          <p:cNvSpPr txBox="1"/>
          <p:nvPr/>
        </p:nvSpPr>
        <p:spPr>
          <a:xfrm>
            <a:off x="841248" y="6053328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63637E"/>
                </a:solidFill>
                <a:latin typeface="Arial"/>
              </a:rPr>
              <a:t>Every test has a screen recording linked in the README.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949440" y="1645920"/>
            <a:ext cx="4407408" cy="960120"/>
          </a:xfrm>
          <a:prstGeom prst="roundRect">
            <a:avLst>
              <a:gd name="adj" fmla="val 8000"/>
            </a:avLst>
          </a:prstGeom>
          <a:solidFill>
            <a:srgbClr val="14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TextBox 140"/>
          <p:cNvSpPr txBox="1"/>
          <p:nvPr/>
        </p:nvSpPr>
        <p:spPr>
          <a:xfrm>
            <a:off x="7132320" y="1719072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172 + 8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732520" y="1719072"/>
            <a:ext cx="2514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D9D3F0"/>
                </a:solidFill>
                <a:latin typeface="Arial"/>
              </a:rPr>
              <a:t>JVM tests (full fake-app replays) + on-device tests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6949440" y="2743200"/>
            <a:ext cx="4407408" cy="960120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7132320" y="2816352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6D28D9"/>
                </a:solidFill>
                <a:latin typeface="Arial"/>
              </a:rPr>
              <a:t>19.6 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732520" y="2816352"/>
            <a:ext cx="2514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3637E"/>
                </a:solidFill>
                <a:latin typeface="Arial"/>
              </a:rPr>
              <a:t>to teach the Zomato order (by hand: 34 s)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949440" y="3840480"/>
            <a:ext cx="4407408" cy="960120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TextBox 146"/>
          <p:cNvSpPr txBox="1"/>
          <p:nvPr/>
        </p:nvSpPr>
        <p:spPr>
          <a:xfrm>
            <a:off x="7132320" y="3913632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6D28D9"/>
                </a:solidFill>
                <a:latin typeface="Arial"/>
              </a:rPr>
              <a:t>18.6–34.6 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732520" y="3913632"/>
            <a:ext cx="2514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3637E"/>
                </a:solidFill>
                <a:latin typeface="Arial"/>
              </a:rPr>
              <a:t>Amazon replay, hands-free, to the payment step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949440" y="4937759"/>
            <a:ext cx="4407408" cy="960120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7132320" y="5010912"/>
            <a:ext cx="1828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6D28D9"/>
                </a:solidFill>
                <a:latin typeface="Arial"/>
              </a:rPr>
              <a:t>1 + ≈1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732520" y="5010912"/>
            <a:ext cx="2514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3637E"/>
                </a:solidFill>
                <a:latin typeface="Arial"/>
              </a:rPr>
              <a:t>AI calls: one per teach, about one per command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949440" y="6035040"/>
            <a:ext cx="4407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63637E"/>
                </a:solidFill>
                <a:latin typeface="Arial"/>
              </a:rPr>
              <a:t>Tested on Galaxy S25 Ultra and Nothing Phone (3a), Android 16.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Limitations — and how MYNA handles them</a:t>
            </a:r>
            <a:endParaRPr b="1" sz="4400">
              <a:solidFill>
                <a:srgbClr val="704EA6"/>
              </a:solidFill>
            </a:endParaRPr>
          </a:p>
        </p:txBody>
      </p:sp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841248" y="1691640"/>
          <a:ext cx="10515600" cy="409651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754880"/>
                <a:gridCol w="576072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Limitation</a:t>
                      </a:r>
                    </a:p>
                  </a:txBody>
                  <a:tcPr marL="73152" marR="73152" marT="27432" marB="27432" anchor="ctr">
                    <a:solidFill>
                      <a:srgbClr val="704EA6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What MYNA does about it</a:t>
                      </a:r>
                    </a:p>
                  </a:txBody>
                  <a:tcPr marL="73152" marR="73152" marT="27432" marB="27432" anchor="ctr">
                    <a:solidFill>
                      <a:srgbClr val="704EA6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Arial"/>
                        </a:rPr>
                        <a:t>Zomato's "Add item" sometimes ignores accessibility taps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Arial"/>
                        </a:rPr>
                        <a:t>Reselects your options, tries twice, then asks for one finger tap and waits 30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Arial"/>
                        </a:rPr>
                        <a:t>Some taps send no event while teaching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Arial"/>
                        </a:rPr>
                        <a:t>Inferred from screen changes; replay also re-finds the result or ADD by name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Arial"/>
                        </a:rPr>
                        <a:t>On-device OCR reads Latin script only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Arial"/>
                        </a:rPr>
                        <a:t>Stops on Hindi screens with a clear reason instead of tapping blindly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Arial"/>
                        </a:rPr>
                        <a:t>Gemini free tier ≈ 20 calls/day, sometimes 429/503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Arial"/>
                        </a:rPr>
                        <a:t>Rule-based fallbacks keep teaching and replay working offline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Arial"/>
                        </a:rPr>
                        <a:t>Replay can be slower than by hand (41 s vs 34 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Arial"/>
                        </a:rPr>
                        <a:t>The win is hands-free and error-free; waits only while pages load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Arial"/>
                        </a:rPr>
                        <a:t>No phone-call pause, no re-teach from one step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Arial"/>
                        </a:rPr>
                        <a:t>Run ends with a reason in History; steps can be deleted or re-taught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Arial"/>
                        </a:rPr>
                        <a:t>Run button replays the taught values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142B"/>
                          </a:solidFill>
                          <a:latin typeface="Arial"/>
                        </a:rPr>
                        <a:t>Say or type quantity / address in the chat for those runs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9" name="TextBox 138"/>
          <p:cNvSpPr txBox="1"/>
          <p:nvPr/>
        </p:nvSpPr>
        <p:spPr>
          <a:xfrm>
            <a:off x="841248" y="58978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6D28D9"/>
                </a:solidFill>
                <a:latin typeface="Arial"/>
              </a:rPr>
              <a:t>By design: </a:t>
            </a:r>
            <a:r>
              <a:rPr sz="1200" b="0" i="0">
                <a:solidFill>
                  <a:srgbClr val="14142B"/>
                </a:solidFill>
                <a:latin typeface="Arial"/>
              </a:rPr>
              <a:t>replay always stops at payment — MYNA never places an order or pays.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What's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Rounded Rectangle 143"/>
          <p:cNvSpPr/>
          <p:nvPr/>
        </p:nvSpPr>
        <p:spPr>
          <a:xfrm>
            <a:off x="841248" y="1783080"/>
            <a:ext cx="3383280" cy="64008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1069848" y="1783080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Next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841248" y="2514600"/>
            <a:ext cx="3383280" cy="2926080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TextBox 146"/>
          <p:cNvSpPr txBox="1"/>
          <p:nvPr/>
        </p:nvSpPr>
        <p:spPr>
          <a:xfrm>
            <a:off x="1069848" y="2670048"/>
            <a:ext cx="2971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6D28D9"/>
                </a:solidFill>
                <a:latin typeface="Arial"/>
              </a:rPr>
              <a:t>•  </a:t>
            </a:r>
            <a:r>
              <a:rPr sz="1250" b="0" i="0">
                <a:solidFill>
                  <a:srgbClr val="14142B"/>
                </a:solidFill>
                <a:latin typeface="Arial"/>
              </a:rPr>
              <a:t>Cross-app replay: teach on Amazon, run on Myntra / Flipkart (universal search, pick-result and cart goals)</a:t>
            </a:r>
          </a:p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6D28D9"/>
                </a:solidFill>
                <a:latin typeface="Arial"/>
              </a:rPr>
              <a:t>•  </a:t>
            </a:r>
            <a:r>
              <a:rPr sz="1250" b="0" i="0">
                <a:solidFill>
                  <a:srgbClr val="14142B"/>
                </a:solidFill>
                <a:latin typeface="Arial"/>
              </a:rPr>
              <a:t>Re-teach from any single step</a:t>
            </a:r>
          </a:p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6D28D9"/>
                </a:solidFill>
                <a:latin typeface="Arial"/>
              </a:rPr>
              <a:t>•  </a:t>
            </a:r>
            <a:r>
              <a:rPr sz="1250" b="0" i="0">
                <a:solidFill>
                  <a:srgbClr val="14142B"/>
                </a:solidFill>
                <a:latin typeface="Arial"/>
              </a:rPr>
              <a:t>Pause and resume around phone calls</a:t>
            </a:r>
          </a:p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6D28D9"/>
                </a:solidFill>
                <a:latin typeface="Arial"/>
              </a:rPr>
              <a:t>•  </a:t>
            </a:r>
            <a:r>
              <a:rPr sz="1250" b="0" i="0">
                <a:solidFill>
                  <a:srgbClr val="14142B"/>
                </a:solidFill>
                <a:latin typeface="Arial"/>
              </a:rPr>
              <a:t>Ask for missing values even when you name only the app ("order a pizza on Zomato")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4242816" y="2103120"/>
            <a:ext cx="146304" cy="0"/>
          </a:xfrm>
          <a:prstGeom prst="line">
            <a:avLst/>
          </a:prstGeom>
          <a:ln w="19050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ounded Rectangle 148"/>
          <p:cNvSpPr/>
          <p:nvPr/>
        </p:nvSpPr>
        <p:spPr>
          <a:xfrm>
            <a:off x="4407408" y="1783080"/>
            <a:ext cx="3383280" cy="640080"/>
          </a:xfrm>
          <a:prstGeom prst="roundRect">
            <a:avLst>
              <a:gd name="adj" fmla="val 8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4636008" y="1783080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Soon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407408" y="2514600"/>
            <a:ext cx="3383280" cy="2926080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4636008" y="2670048"/>
            <a:ext cx="2971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•  </a:t>
            </a:r>
            <a:r>
              <a:rPr sz="1250" b="0" i="0">
                <a:solidFill>
                  <a:srgbClr val="14142B"/>
                </a:solidFill>
                <a:latin typeface="Arial"/>
              </a:rPr>
              <a:t>On-device model (Gemini Nano) for blank filling and recovery — fully offline</a:t>
            </a:r>
          </a:p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•  </a:t>
            </a:r>
            <a:r>
              <a:rPr sz="1250" b="0" i="0">
                <a:solidFill>
                  <a:srgbClr val="14142B"/>
                </a:solidFill>
                <a:latin typeface="Arial"/>
              </a:rPr>
              <a:t>Hindi and Indic OCR + speech</a:t>
            </a:r>
          </a:p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•  </a:t>
            </a:r>
            <a:r>
              <a:rPr sz="1250" b="0" i="0">
                <a:solidFill>
                  <a:srgbClr val="14142B"/>
                </a:solidFill>
                <a:latin typeface="Arial"/>
              </a:rPr>
              <a:t>Share and import recipes between users</a:t>
            </a:r>
          </a:p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704EA6"/>
                </a:solidFill>
                <a:latin typeface="Arial"/>
              </a:rPr>
              <a:t>•  </a:t>
            </a:r>
            <a:r>
              <a:rPr sz="1250" b="0" i="0">
                <a:solidFill>
                  <a:srgbClr val="14142B"/>
                </a:solidFill>
                <a:latin typeface="Arial"/>
              </a:rPr>
              <a:t>Highlight each element just before it's tapped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7808976" y="2103120"/>
            <a:ext cx="146303" cy="0"/>
          </a:xfrm>
          <a:prstGeom prst="line">
            <a:avLst/>
          </a:prstGeom>
          <a:ln w="19050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Rounded Rectangle 153"/>
          <p:cNvSpPr/>
          <p:nvPr/>
        </p:nvSpPr>
        <p:spPr>
          <a:xfrm>
            <a:off x="7973568" y="1783080"/>
            <a:ext cx="3383280" cy="640080"/>
          </a:xfrm>
          <a:prstGeom prst="roundRect">
            <a:avLst>
              <a:gd name="adj" fmla="val 8000"/>
            </a:avLst>
          </a:prstGeom>
          <a:solidFill>
            <a:srgbClr val="2E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TextBox 154"/>
          <p:cNvSpPr txBox="1"/>
          <p:nvPr/>
        </p:nvSpPr>
        <p:spPr>
          <a:xfrm>
            <a:off x="8202168" y="1783080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Vision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7973568" y="2514600"/>
            <a:ext cx="3383280" cy="2926080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TextBox 156"/>
          <p:cNvSpPr txBox="1"/>
          <p:nvPr/>
        </p:nvSpPr>
        <p:spPr>
          <a:xfrm>
            <a:off x="8202168" y="2670048"/>
            <a:ext cx="2971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2E9C8C"/>
                </a:solidFill>
                <a:latin typeface="Arial"/>
              </a:rPr>
              <a:t>•  </a:t>
            </a:r>
            <a:r>
              <a:rPr sz="1250" b="0" i="0">
                <a:solidFill>
                  <a:srgbClr val="14142B"/>
                </a:solidFill>
                <a:latin typeface="Arial"/>
              </a:rPr>
              <a:t>"Hi Bixby, my usual order": MYNA as the teachable layer of Bixby</a:t>
            </a:r>
          </a:p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2E9C8C"/>
                </a:solidFill>
                <a:latin typeface="Arial"/>
              </a:rPr>
              <a:t>•  </a:t>
            </a:r>
            <a:r>
              <a:rPr sz="1250" b="0" i="0">
                <a:solidFill>
                  <a:srgbClr val="14142B"/>
                </a:solidFill>
                <a:latin typeface="Arial"/>
              </a:rPr>
              <a:t>Triggers by time or place ("every Sunday 8 pm")</a:t>
            </a:r>
          </a:p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2E9C8C"/>
                </a:solidFill>
                <a:latin typeface="Arial"/>
              </a:rPr>
              <a:t>•  </a:t>
            </a:r>
            <a:r>
              <a:rPr sz="1250" b="0" i="0">
                <a:solidFill>
                  <a:srgbClr val="14142B"/>
                </a:solidFill>
                <a:latin typeface="Arial"/>
              </a:rPr>
              <a:t>Multi-app chains: order food, then WhatsApp the ETA</a:t>
            </a:r>
          </a:p>
          <a:p>
            <a:pPr algn="l">
              <a:spcAft>
                <a:spcPts val="1200"/>
              </a:spcAft>
            </a:pPr>
            <a:r>
              <a:rPr sz="1250" b="1" i="0">
                <a:solidFill>
                  <a:srgbClr val="2E9C8C"/>
                </a:solidFill>
                <a:latin typeface="Arial"/>
              </a:rPr>
              <a:t>•  </a:t>
            </a:r>
            <a:r>
              <a:rPr sz="1250" b="0" i="0">
                <a:solidFill>
                  <a:srgbClr val="14142B"/>
                </a:solidFill>
                <a:latin typeface="Arial"/>
              </a:rPr>
              <a:t>One recipe, every similar app — a shared library of learned tasks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841248" y="5577840"/>
            <a:ext cx="10515600" cy="640080"/>
          </a:xfrm>
          <a:prstGeom prst="roundRect">
            <a:avLst>
              <a:gd name="adj" fmla="val 8000"/>
            </a:avLst>
          </a:prstGeom>
          <a:solidFill>
            <a:srgbClr val="14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TextBox 158"/>
          <p:cNvSpPr txBox="1"/>
          <p:nvPr/>
        </p:nvSpPr>
        <p:spPr>
          <a:xfrm>
            <a:off x="1069848" y="5715000"/>
            <a:ext cx="10058400" cy="3657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D9D3F0"/>
                </a:solidFill>
                <a:latin typeface="Arial"/>
              </a:rPr>
              <a:t>The goal: </a:t>
            </a:r>
            <a:r>
              <a:rPr sz="1500" b="1" i="0">
                <a:solidFill>
                  <a:srgbClr val="FFFFFF"/>
                </a:solidFill>
                <a:latin typeface="Arial"/>
              </a:rPr>
              <a:t>every Galaxy user teaches their phone once — and never taps the same flow again.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— what sets MYNA apart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841248" y="162763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704EA6"/>
                </a:solidFill>
                <a:latin typeface="Arial"/>
              </a:rPr>
              <a:t>Bonus criteria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841248" y="2057400"/>
            <a:ext cx="5486400" cy="1042415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Oval 151"/>
          <p:cNvSpPr/>
          <p:nvPr/>
        </p:nvSpPr>
        <p:spPr>
          <a:xfrm>
            <a:off x="1005840" y="2240280"/>
            <a:ext cx="420624" cy="420624"/>
          </a:xfrm>
          <a:prstGeom prst="ellipse">
            <a:avLst/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572768" y="2167128"/>
            <a:ext cx="4617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4142B"/>
                </a:solidFill>
                <a:latin typeface="Arial"/>
              </a:rPr>
              <a:t>Discards unnecessary touches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63637E"/>
                </a:solidFill>
                <a:latin typeface="Arial"/>
              </a:rPr>
              <a:t>Call screens and the dialer are never recorded; double taps and tap-then-Back are dropped; AI flags leftover mistakes → "I left out 2 steps that looked like mistakes."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841248" y="3227832"/>
            <a:ext cx="5486400" cy="1042415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Oval 154"/>
          <p:cNvSpPr/>
          <p:nvPr/>
        </p:nvSpPr>
        <p:spPr>
          <a:xfrm>
            <a:off x="1005840" y="3410712"/>
            <a:ext cx="420624" cy="420624"/>
          </a:xfrm>
          <a:prstGeom prst="ellipse">
            <a:avLst/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572768" y="3337560"/>
            <a:ext cx="4617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4142B"/>
                </a:solidFill>
                <a:latin typeface="Arial"/>
              </a:rPr>
              <a:t>Mid-flow parameter clarification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63637E"/>
                </a:solidFill>
                <a:latin typeface="Arial"/>
              </a:rPr>
              <a:t>A missing blank is recognised and asked: "Which restaurant? Last time it was Domino's" — then the flow continues with your answer.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841248" y="4398264"/>
            <a:ext cx="5486400" cy="1042415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Oval 157"/>
          <p:cNvSpPr/>
          <p:nvPr/>
        </p:nvSpPr>
        <p:spPr>
          <a:xfrm>
            <a:off x="1005840" y="4581144"/>
            <a:ext cx="420624" cy="420624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~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572768" y="4507992"/>
            <a:ext cx="4617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4142B"/>
                </a:solidFill>
                <a:latin typeface="Arial"/>
              </a:rPr>
              <a:t>Generalisation across similar apps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63637E"/>
                </a:solidFill>
                <a:latin typeface="Arial"/>
              </a:rPr>
              <a:t>Search, pick-the-best-result and checkout are app-agnostic goals, proven on Zomato and Amazon; running an Amazon recipe on Myntra is next.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583680" y="162763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704EA6"/>
                </a:solidFill>
                <a:latin typeface="Arial"/>
              </a:rPr>
              <a:t>Built on research, tuned on real apps</a:t>
            </a:r>
          </a:p>
        </p:txBody>
      </p:sp>
      <p:graphicFrame>
        <p:nvGraphicFramePr>
          <p:cNvPr id="161" name="Table 160"/>
          <p:cNvGraphicFramePr>
            <a:graphicFrameLocks noGrp="1"/>
          </p:cNvGraphicFramePr>
          <p:nvPr/>
        </p:nvGraphicFramePr>
        <p:xfrm>
          <a:off x="6583680" y="2057400"/>
          <a:ext cx="4773168" cy="3200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83080"/>
                <a:gridCol w="299008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marL="73152" marR="73152" marT="27432" marB="27432" anchor="ctr">
                    <a:solidFill>
                      <a:srgbClr val="704EA6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What we took → what we added</a:t>
                      </a:r>
                    </a:p>
                  </a:txBody>
                  <a:tcPr marL="73152" marR="73152" marT="27432" marB="27432" anchor="ctr">
                    <a:solidFill>
                      <a:srgbClr val="704EA6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42B"/>
                          </a:solidFill>
                          <a:latin typeface="Arial"/>
                        </a:rPr>
                        <a:t>SUGILITE (CHI '17)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42B"/>
                          </a:solidFill>
                          <a:latin typeface="Arial"/>
                        </a:rPr>
                        <a:t>demo + voice teaching → payment hand-off, hidden taps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42B"/>
                          </a:solidFill>
                          <a:latin typeface="Arial"/>
                        </a:rPr>
                        <a:t>VASTA (Samsung, IUI '20)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42B"/>
                          </a:solidFill>
                          <a:latin typeface="Arial"/>
                        </a:rPr>
                        <a:t>3-level finder + OCR → thresholds re-measured on Gemini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42B"/>
                          </a:solidFill>
                          <a:latin typeface="Arial"/>
                        </a:rPr>
                        <a:t>AutoDroid (MobiCom '24)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42B"/>
                          </a:solidFill>
                          <a:latin typeface="Arial"/>
                        </a:rPr>
                        <a:t>numbered screen list → used once, as last resort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42B"/>
                          </a:solidFill>
                          <a:latin typeface="Arial"/>
                        </a:rPr>
                        <a:t>MobileGPT (MobiCom '24)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42B"/>
                          </a:solidFill>
                          <a:latin typeface="Arial"/>
                        </a:rPr>
                        <a:t>sub-task recipes → universal search / pick goals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42B"/>
                          </a:solidFill>
                          <a:latin typeface="Arial"/>
                        </a:rPr>
                        <a:t>OS-Kairos (ACL '25)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42B"/>
                          </a:solidFill>
                          <a:latin typeface="Arial"/>
                        </a:rPr>
                        <a:t>act vs ask by confidence → asks for missing blanks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42B"/>
                          </a:solidFill>
                          <a:latin typeface="Arial"/>
                        </a:rPr>
                        <a:t>Pop-up attack studies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42B"/>
                          </a:solidFill>
                          <a:latin typeface="Arial"/>
                        </a:rPr>
                        <a:t>never tap a pop-up's action → close by ✕ only</a:t>
                      </a:r>
                    </a:p>
                  </a:txBody>
                  <a:tcPr marL="73152" marR="73152" marT="27432" marB="27432" anchor="ctr">
                    <a:solidFill>
                      <a:srgbClr val="F4F1FC"/>
                    </a:solidFill>
                    <a:lnL w="6350">
                      <a:solidFill>
                        <a:srgbClr val="D9D3F0"/>
                      </a:solidFill>
                    </a:lnL>
                    <a:lnR w="6350">
                      <a:solidFill>
                        <a:srgbClr val="D9D3F0"/>
                      </a:solidFill>
                    </a:lnR>
                    <a:lnT w="6350">
                      <a:solidFill>
                        <a:srgbClr val="D9D3F0"/>
                      </a:solidFill>
                    </a:lnT>
                    <a:lnB w="6350">
                      <a:solidFill>
                        <a:srgbClr val="D9D3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2" name="Rounded Rectangle 161"/>
          <p:cNvSpPr/>
          <p:nvPr/>
        </p:nvSpPr>
        <p:spPr>
          <a:xfrm>
            <a:off x="841248" y="5577840"/>
            <a:ext cx="5486400" cy="64008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TextBox 162"/>
          <p:cNvSpPr txBox="1"/>
          <p:nvPr/>
        </p:nvSpPr>
        <p:spPr>
          <a:xfrm>
            <a:off x="1024128" y="5687568"/>
            <a:ext cx="512064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3 bonus criteria · 2 fully met, 1 foundation built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583680" y="5440680"/>
            <a:ext cx="477316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D28D9"/>
                </a:solidFill>
                <a:latin typeface="Arial"/>
              </a:rPr>
              <a:t>Extras: </a:t>
            </a:r>
            <a:r>
              <a:rPr sz="1100" b="0" i="0">
                <a:solidFill>
                  <a:srgbClr val="14142B"/>
                </a:solidFill>
                <a:latin typeface="Arial"/>
              </a:rPr>
              <a:t>speech mis-hearing fixes · chat history like a messenger · volume key silences MYNA · WhatsApp catalog orders stop before Send.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 — updated on public GitHub</a:t>
            </a:r>
            <a:endParaRPr/>
          </a:p>
        </p:txBody>
      </p:sp>
      <p:sp>
        <p:nvSpPr>
          <p:cNvPr id="156" name="Rounded Rectangle 155"/>
          <p:cNvSpPr/>
          <p:nvPr/>
        </p:nvSpPr>
        <p:spPr>
          <a:xfrm>
            <a:off x="841248" y="1737360"/>
            <a:ext cx="10515600" cy="621792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Oval 156"/>
          <p:cNvSpPr/>
          <p:nvPr/>
        </p:nvSpPr>
        <p:spPr>
          <a:xfrm>
            <a:off x="987552" y="1847088"/>
            <a:ext cx="402336" cy="402336"/>
          </a:xfrm>
          <a:prstGeom prst="ellipse">
            <a:avLst/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Y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554480" y="1783080"/>
            <a:ext cx="49377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142B"/>
                </a:solidFill>
                <a:latin typeface="Arial"/>
              </a:rPr>
              <a:t>Working prototype code — public GitHub repo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492240" y="1783080"/>
            <a:ext cx="47548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Arial"/>
              </a:rPr>
              <a:t>github.com/gurnoorpannu/MYNA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41248" y="2468880"/>
            <a:ext cx="1051560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Oval 160"/>
          <p:cNvSpPr/>
          <p:nvPr/>
        </p:nvSpPr>
        <p:spPr>
          <a:xfrm>
            <a:off x="987552" y="2578608"/>
            <a:ext cx="402336" cy="402336"/>
          </a:xfrm>
          <a:prstGeom prst="ellipse">
            <a:avLst/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Y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554480" y="2514600"/>
            <a:ext cx="49377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142B"/>
                </a:solidFill>
                <a:latin typeface="Arial"/>
              </a:rPr>
              <a:t>README with reproducible setup instructions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492240" y="2514600"/>
            <a:ext cx="47548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Arial"/>
              </a:rPr>
              <a:t>build, run, AI key, tests — README.md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841248" y="3200400"/>
            <a:ext cx="10515600" cy="621792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Oval 164"/>
          <p:cNvSpPr/>
          <p:nvPr/>
        </p:nvSpPr>
        <p:spPr>
          <a:xfrm>
            <a:off x="987552" y="3310128"/>
            <a:ext cx="402336" cy="402336"/>
          </a:xfrm>
          <a:prstGeom prst="ellipse">
            <a:avLst/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Y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554480" y="3246120"/>
            <a:ext cx="49377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142B"/>
                </a:solidFill>
                <a:latin typeface="Arial"/>
              </a:rPr>
              <a:t>Demo video, max 5 minutes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492240" y="3246120"/>
            <a:ext cx="47548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Arial"/>
              </a:rPr>
              <a:t>drive.google.com/file/d/1DHrpgInpbme7hSHadp0A3DoQJjBCN2yX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841248" y="3931920"/>
            <a:ext cx="1051560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Oval 168"/>
          <p:cNvSpPr/>
          <p:nvPr/>
        </p:nvSpPr>
        <p:spPr>
          <a:xfrm>
            <a:off x="987552" y="4041648"/>
            <a:ext cx="402336" cy="402336"/>
          </a:xfrm>
          <a:prstGeom prst="ellipse">
            <a:avLst/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Y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554480" y="3977640"/>
            <a:ext cx="49377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142B"/>
                </a:solidFill>
                <a:latin typeface="Arial"/>
              </a:rPr>
              <a:t>Presentation file (PPT or PDF)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492240" y="3977640"/>
            <a:ext cx="47548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Arial"/>
              </a:rPr>
              <a:t>this deck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841248" y="4663440"/>
            <a:ext cx="10515600" cy="621792"/>
          </a:xfrm>
          <a:prstGeom prst="roundRect">
            <a:avLst>
              <a:gd name="adj" fmla="val 8000"/>
            </a:avLst>
          </a:prstGeom>
          <a:solidFill>
            <a:srgbClr val="F4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Oval 172"/>
          <p:cNvSpPr/>
          <p:nvPr/>
        </p:nvSpPr>
        <p:spPr>
          <a:xfrm>
            <a:off x="987552" y="4773168"/>
            <a:ext cx="402336" cy="402336"/>
          </a:xfrm>
          <a:prstGeom prst="ellipse">
            <a:avLst/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Y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554480" y="4709159"/>
            <a:ext cx="49377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142B"/>
                </a:solidFill>
                <a:latin typeface="Arial"/>
              </a:rPr>
              <a:t>One video per official test case (T1–T14)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492240" y="4709159"/>
            <a:ext cx="47548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Arial"/>
              </a:rPr>
              <a:t>linked in the README test table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841248" y="5394960"/>
            <a:ext cx="1051560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Oval 176"/>
          <p:cNvSpPr/>
          <p:nvPr/>
        </p:nvSpPr>
        <p:spPr>
          <a:xfrm>
            <a:off x="987552" y="5504688"/>
            <a:ext cx="402336" cy="402336"/>
          </a:xfrm>
          <a:prstGeom prst="ellipse">
            <a:avLst/>
          </a:prstGeom>
          <a:solidFill>
            <a:srgbClr val="1E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Y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554480" y="5440680"/>
            <a:ext cx="49377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142B"/>
                </a:solidFill>
                <a:latin typeface="Arial"/>
              </a:rPr>
              <a:t>Architecture and known limitations docs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492240" y="5440680"/>
            <a:ext cx="47548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Arial"/>
              </a:rPr>
              <a:t>docs/architecture.md · docs/limitations.md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1042415" y="46177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6D28D9"/>
                </a:solidFill>
                <a:latin typeface="Arial"/>
              </a:rPr>
              <a:t>MYNA</a:t>
            </a:r>
            <a:r>
              <a:rPr sz="1600" b="0" i="0">
                <a:solidFill>
                  <a:srgbClr val="63637E"/>
                </a:solidFill>
                <a:latin typeface="Arial"/>
              </a:rPr>
              <a:t>  ·  Team Legacy  ·  github.com/gurnoorpannu/MYNA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